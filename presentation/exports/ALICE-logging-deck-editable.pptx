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64447" y="1041297"/>
            <a:ext cx="1990052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90" b="0" i="0" u="none" spc="69">
                <a:solidFill>
                  <a:srgbClr val="6B6B66"/>
                </a:solidFill>
                <a:latin typeface="ui-monospace"/>
              </a:rPr>
              <a:t>WEDNESDAY 19 AUGUST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40" y="2474024"/>
            <a:ext cx="7706570" cy="12451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4370" b="0" i="0" u="none" spc="-131">
                <a:solidFill>
                  <a:srgbClr val="101010"/>
                </a:solidFill>
                <a:latin typeface="Helvetica Neue"/>
              </a:rPr>
              <a:t>Modern Logging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40" y="3029236"/>
            <a:ext cx="7659314" cy="12595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4370" b="1" i="0" u="none" spc="-131">
                <a:solidFill>
                  <a:srgbClr val="101010"/>
                </a:solidFill>
                <a:latin typeface="Helvetica Neue"/>
              </a:rPr>
              <a:t>with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3595497"/>
            <a:ext cx="2660797" cy="12595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4370" b="1" i="0" u="none" spc="-131">
                <a:solidFill>
                  <a:srgbClr val="101010"/>
                </a:solidFill>
                <a:latin typeface="Helvetica Neue"/>
              </a:rPr>
              <a:t>for HPC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51929" y="4586674"/>
            <a:ext cx="191809" cy="183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50" b="0" i="0" u="none">
                <a:solidFill>
                  <a:srgbClr val="101010"/>
                </a:solidFill>
                <a:latin typeface="ui-monospace"/>
              </a:rPr>
              <a:t>gr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9068" y="4572872"/>
            <a:ext cx="191809" cy="183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50" b="0" i="0" u="none">
                <a:solidFill>
                  <a:srgbClr val="101010"/>
                </a:solidFill>
                <a:latin typeface="ui-monospace"/>
              </a:rPr>
              <a:t>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92206" y="5461136"/>
            <a:ext cx="1650581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00" b="0" i="0" u="none" spc="54">
                <a:solidFill>
                  <a:srgbClr val="101010"/>
                </a:solidFill>
                <a:latin typeface="ui-monospace"/>
              </a:rPr>
              <a:t>$ tail -f /dev/cosmos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440" y="5978152"/>
            <a:ext cx="930652" cy="15925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90" b="0" i="0" u="none" spc="95">
                <a:solidFill>
                  <a:srgbClr val="6B6B66"/>
                </a:solidFill>
                <a:latin typeface="ui-monospace"/>
              </a:rPr>
              <a:t>PRESENTED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3440" y="6113455"/>
            <a:ext cx="1266908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 u="none" spc="-11">
                <a:solidFill>
                  <a:srgbClr val="101010"/>
                </a:solidFill>
                <a:latin typeface="Helvetica Neue"/>
              </a:rPr>
              <a:t>Marko Sladojevic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5168" y="5978152"/>
            <a:ext cx="853017" cy="15925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90" b="0" i="0" u="none" spc="95">
                <a:solidFill>
                  <a:srgbClr val="6B6B66"/>
                </a:solidFill>
                <a:latin typeface="ui-monospace"/>
              </a:rPr>
              <a:t>SUPERVISORS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5168" y="6113455"/>
            <a:ext cx="878253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 u="none" spc="-11">
                <a:solidFill>
                  <a:srgbClr val="101010"/>
                </a:solidFill>
                <a:latin typeface="Helvetica Neue"/>
              </a:rPr>
              <a:t>Lubos Krcal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5168" y="6282404"/>
            <a:ext cx="1398871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 u="none" spc="-11">
                <a:solidFill>
                  <a:srgbClr val="101010"/>
                </a:solidFill>
                <a:latin typeface="Helvetica Neue"/>
              </a:rPr>
              <a:t>Federico Ronchetti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08625" y="5990725"/>
            <a:ext cx="580412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90" b="0" i="0" u="none" spc="69">
                <a:solidFill>
                  <a:srgbClr val="6B6B66"/>
                </a:solidFill>
                <a:latin typeface="ui-monospace"/>
              </a:rPr>
              <a:t>01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3532" y="527661"/>
            <a:ext cx="4493972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u="none" spc="70">
                <a:solidFill>
                  <a:srgbClr val="6B6B66"/>
                </a:solidFill>
                <a:latin typeface="ui-monospace"/>
              </a:rPr>
              <a:t>MODERN LOGGING PLATFORM WITH MACHINE LEARNING FOR HPC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432012"/>
            <a:ext cx="1697034" cy="8976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110" b="1" i="0" u="none" spc="-100">
                <a:solidFill>
                  <a:srgbClr val="101010"/>
                </a:solidFill>
                <a:latin typeface="Helvetica Neue"/>
              </a:rPr>
              <a:t>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187011"/>
            <a:ext cx="3444377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 u="none">
                <a:solidFill>
                  <a:srgbClr val="6B6B66"/>
                </a:solidFill>
                <a:latin typeface="Helvetica Neue"/>
              </a:rPr>
              <a:t>What logging looks like today, what we suggest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367510"/>
            <a:ext cx="2385941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 u="none">
                <a:solidFill>
                  <a:srgbClr val="6B6B66"/>
                </a:solidFill>
                <a:latin typeface="Helvetica Neue"/>
              </a:rPr>
              <a:t>instead, and what is still missing.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8502" y="1815679"/>
            <a:ext cx="363581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u="none">
                <a:solidFill>
                  <a:srgbClr val="6B6B66"/>
                </a:solidFill>
                <a:latin typeface="ui-monospace"/>
              </a:rPr>
              <a:t>03–06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33818" y="1698331"/>
            <a:ext cx="2866537" cy="3764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10" b="0" i="0" u="none" spc="-24">
                <a:solidFill>
                  <a:srgbClr val="101010"/>
                </a:solidFill>
                <a:latin typeface="Helvetica Neue"/>
              </a:rPr>
              <a:t>The problem, and the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8751" y="1782532"/>
            <a:ext cx="2958638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69" b="0" i="0" u="none">
                <a:solidFill>
                  <a:srgbClr val="6B6B66"/>
                </a:solidFill>
                <a:latin typeface="Helvetica Neue"/>
              </a:rPr>
              <a:t>Logging today · What we want to build · Our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8751" y="1938028"/>
            <a:ext cx="2833747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69" b="0" i="0" u="none">
                <a:solidFill>
                  <a:srgbClr val="6B6B66"/>
                </a:solidFill>
                <a:latin typeface="Helvetica Neue"/>
              </a:rPr>
              <a:t>suggested architecture · Federated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8502" y="2797231"/>
            <a:ext cx="363581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u="none">
                <a:solidFill>
                  <a:srgbClr val="6B6B66"/>
                </a:solidFill>
                <a:latin typeface="ui-monospace"/>
              </a:rPr>
              <a:t>07–11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3818" y="2679883"/>
            <a:ext cx="1831568" cy="3764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10" b="0" i="0" u="none" spc="-24">
                <a:solidFill>
                  <a:srgbClr val="101010"/>
                </a:solidFill>
                <a:latin typeface="Helvetica Neue"/>
              </a:rPr>
              <a:t>Choosing the tech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8751" y="2764084"/>
            <a:ext cx="3056364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69" b="0" i="0" u="none">
                <a:solidFill>
                  <a:srgbClr val="6B6B66"/>
                </a:solidFill>
                <a:latin typeface="Helvetica Neue"/>
              </a:rPr>
              <a:t>Why Fluent Bit · Why OpenSearch · Inside the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8751" y="2919579"/>
            <a:ext cx="3339096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69" b="0" i="0" u="none">
                <a:solidFill>
                  <a:srgbClr val="6B6B66"/>
                </a:solidFill>
                <a:latin typeface="Helvetica Neue"/>
              </a:rPr>
              <a:t>collector · How we use OpenSearch · Deployment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8751" y="3075075"/>
            <a:ext cx="811066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69" b="0" i="0" u="none">
                <a:solidFill>
                  <a:srgbClr val="6B6B66"/>
                </a:solidFill>
                <a:latin typeface="Helvetica Neue"/>
              </a:rPr>
              <a:t>with Ansible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8502" y="3934277"/>
            <a:ext cx="363581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u="none">
                <a:solidFill>
                  <a:srgbClr val="6B6B66"/>
                </a:solidFill>
                <a:latin typeface="ui-monospace"/>
              </a:rPr>
              <a:t>12–14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33818" y="3816929"/>
            <a:ext cx="3809405" cy="3764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10" b="0" i="0" u="none" spc="-24">
                <a:solidFill>
                  <a:srgbClr val="101010"/>
                </a:solidFill>
                <a:latin typeface="Helvetica Neue"/>
              </a:rPr>
              <a:t>What people see, and what watches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8751" y="3901130"/>
            <a:ext cx="3239441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69" b="0" i="0" u="none">
                <a:solidFill>
                  <a:srgbClr val="6B6B66"/>
                </a:solidFill>
                <a:latin typeface="Helvetica Neue"/>
              </a:rPr>
              <a:t>The interface · Log anomaly detection · Anomaly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8751" y="4056626"/>
            <a:ext cx="1375243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69" b="0" i="0" u="none">
                <a:solidFill>
                  <a:srgbClr val="6B6B66"/>
                </a:solidFill>
                <a:latin typeface="Helvetica Neue"/>
              </a:rPr>
              <a:t>detection on metrics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8502" y="4915829"/>
            <a:ext cx="199192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u="none">
                <a:solidFill>
                  <a:srgbClr val="6B6B66"/>
                </a:solidFill>
                <a:latin typeface="ui-monospace"/>
              </a:rPr>
              <a:t>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33818" y="4798481"/>
            <a:ext cx="1339078" cy="3764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10" b="0" i="0" u="none" spc="-24">
                <a:solidFill>
                  <a:srgbClr val="101010"/>
                </a:solidFill>
                <a:latin typeface="Helvetica Neue"/>
              </a:rPr>
              <a:t>Coming soon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8751" y="4882682"/>
            <a:ext cx="1411409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69" b="0" i="0" u="none">
                <a:solidFill>
                  <a:srgbClr val="6B6B66"/>
                </a:solidFill>
                <a:latin typeface="Helvetica Neue"/>
              </a:rPr>
              <a:t>What is coming soon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6360414"/>
            <a:ext cx="2119926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u="none" spc="70">
                <a:solidFill>
                  <a:srgbClr val="6B6B66"/>
                </a:solidFill>
                <a:latin typeface="ui-monospace"/>
              </a:rPr>
              <a:t>ALICE COLLABORATION 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42702" y="6360414"/>
            <a:ext cx="593592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u="none" spc="70">
                <a:solidFill>
                  <a:srgbClr val="6B6B66"/>
                </a:solidFill>
                <a:latin typeface="ui-monospace"/>
              </a:rP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3532" y="527661"/>
            <a:ext cx="4493972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u="none" spc="70">
                <a:solidFill>
                  <a:srgbClr val="6B6B66"/>
                </a:solidFill>
                <a:latin typeface="ui-monospace"/>
              </a:rPr>
              <a:t>MODERN LOGGING PLATFORM WITH MACHINE LEARNING FOR HPC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135547"/>
            <a:ext cx="1954048" cy="8976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110" b="1" i="0" u="none" spc="-100">
                <a:solidFill>
                  <a:srgbClr val="101010"/>
                </a:solidFill>
                <a:latin typeface="Helvetica Neue"/>
              </a:rPr>
              <a:t>Logging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530596"/>
            <a:ext cx="1336989" cy="8976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110" b="1" i="0" u="none" spc="-100">
                <a:solidFill>
                  <a:srgbClr val="101010"/>
                </a:solidFill>
                <a:latin typeface="Helvetica Neue"/>
              </a:rPr>
              <a:t>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285595"/>
            <a:ext cx="3122908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 u="none">
                <a:solidFill>
                  <a:srgbClr val="6B6B66"/>
                </a:solidFill>
                <a:latin typeface="Helvetica Neue"/>
              </a:rPr>
              <a:t>InfoLogger moves the messages a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466094"/>
            <a:ext cx="3418016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 u="none">
                <a:solidFill>
                  <a:srgbClr val="6B6B66"/>
                </a:solidFill>
                <a:latin typeface="Helvetica Neue"/>
              </a:rPr>
              <a:t>sends it. That is one road. Most of what a node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646593"/>
            <a:ext cx="1491936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 u="none">
                <a:solidFill>
                  <a:srgbClr val="6B6B66"/>
                </a:solidFill>
                <a:latin typeface="Helvetica Neue"/>
              </a:rPr>
              <a:t>writes never takes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219355"/>
            <a:ext cx="2813494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30" b="0" i="0" u="none" spc="50">
                <a:solidFill>
                  <a:srgbClr val="E1251B"/>
                </a:solidFill>
                <a:latin typeface="ui-monospace"/>
              </a:rPr>
              <a:t>SHIFTERS READ THE LOGS BY HAND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01228" y="1125119"/>
            <a:ext cx="217051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>
                <a:solidFill>
                  <a:srgbClr val="6B6B66"/>
                </a:solidFill>
                <a:latin typeface="ui-monospace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8689" y="1125119"/>
            <a:ext cx="1981051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 spc="119">
                <a:solidFill>
                  <a:srgbClr val="101010"/>
                </a:solidFill>
                <a:latin typeface="ui-monospace"/>
              </a:rPr>
              <a:t>WHAT A NODE WRITES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0310" y="1136168"/>
            <a:ext cx="3652528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630" b="0" i="0" u="none">
                <a:solidFill>
                  <a:srgbClr val="3A3A36"/>
                </a:solidFill>
                <a:latin typeface="Helvetica Neue"/>
              </a:rPr>
              <a:t>InfoLogger carries what a process sends it, and nothing else.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1674" y="1437642"/>
            <a:ext cx="1847159" cy="30403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40" b="1" i="0" u="none" spc="-8">
                <a:solidFill>
                  <a:srgbClr val="E1251B"/>
                </a:solidFill>
                <a:latin typeface="Helvetica Neue"/>
              </a:rPr>
              <a:t>Application messages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98930" y="1663769"/>
            <a:ext cx="1472648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 u="none">
                <a:solidFill>
                  <a:srgbClr val="6B6B66"/>
                </a:solidFill>
                <a:latin typeface="Helvetica Neue"/>
              </a:rPr>
              <a:t>through libInfoLogger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8160" y="1834365"/>
            <a:ext cx="1214187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 u="none">
                <a:solidFill>
                  <a:srgbClr val="6B6B66"/>
                </a:solidFill>
                <a:latin typeface="Helvetica Neue"/>
              </a:rPr>
              <a:t>or stdout piped 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2905" y="1437642"/>
            <a:ext cx="1365278" cy="30403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40" b="1" i="0" u="none" spc="-8">
                <a:solidFill>
                  <a:srgbClr val="101010"/>
                </a:solidFill>
                <a:latin typeface="Helvetica Neue"/>
              </a:rPr>
              <a:t>Log files on disk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0861" y="1663769"/>
            <a:ext cx="1629364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 u="none">
                <a:solidFill>
                  <a:srgbClr val="6B6B66"/>
                </a:solidFill>
                <a:latin typeface="Helvetica Neue"/>
              </a:rPr>
              <a:t>process stdout, and ten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8048" y="1834365"/>
            <a:ext cx="1634990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 u="none">
                <a:solidFill>
                  <a:srgbClr val="6B6B66"/>
                </a:solidFill>
                <a:latin typeface="Helvetica Neue"/>
              </a:rPr>
              <a:t>named O2 process logs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16756" y="1437642"/>
            <a:ext cx="1836068" cy="30403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40" b="1" i="0" u="none" spc="-8">
                <a:solidFill>
                  <a:srgbClr val="101010"/>
                </a:solidFill>
                <a:latin typeface="Helvetica Neue"/>
              </a:rPr>
              <a:t>The machine’s journal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51612" y="1663769"/>
            <a:ext cx="1566355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 u="none">
                <a:solidFill>
                  <a:srgbClr val="6B6B66"/>
                </a:solidFill>
                <a:latin typeface="Helvetica Neue"/>
              </a:rPr>
              <a:t>systemd, every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3872" y="1834365"/>
            <a:ext cx="821835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 u="none">
                <a:solidFill>
                  <a:srgbClr val="6B6B66"/>
                </a:solidFill>
                <a:latin typeface="Helvetica Neue"/>
              </a:rPr>
              <a:t>on the node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07664" y="1437642"/>
            <a:ext cx="1072741" cy="30403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40" b="1" i="0" u="none" spc="-8">
                <a:solidFill>
                  <a:srgbClr val="6B6B66"/>
                </a:solidFill>
                <a:latin typeface="Helvetica Neue"/>
              </a:rPr>
              <a:t>Host metrics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08056" y="1663769"/>
            <a:ext cx="1671958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 u="none">
                <a:solidFill>
                  <a:srgbClr val="6B6B66"/>
                </a:solidFill>
                <a:latin typeface="Helvetica Neue"/>
              </a:rPr>
              <a:t>processor, memory, disk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63509" y="1834365"/>
            <a:ext cx="1561052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 u="none">
                <a:solidFill>
                  <a:srgbClr val="6B6B66"/>
                </a:solidFill>
                <a:latin typeface="Helvetica Neue"/>
              </a:rPr>
              <a:t>from the machine itself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5187" y="2278239"/>
            <a:ext cx="2529959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50" b="0" i="0" u="none" spc="-4">
                <a:solidFill>
                  <a:srgbClr val="E1251B"/>
                </a:solidFill>
                <a:latin typeface="Helvetica Neue"/>
              </a:rPr>
              <a:t>Neither of these reaches InfoLogger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4393" y="2140790"/>
            <a:ext cx="1979283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0" b="0" i="0" u="none">
                <a:solidFill>
                  <a:srgbClr val="3A3A36"/>
                </a:solidFill>
                <a:latin typeface="Helvetica Neue"/>
              </a:rPr>
              <a:t>monitoring already collects these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01228" y="2527799"/>
            <a:ext cx="217051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>
                <a:solidFill>
                  <a:srgbClr val="6B6B66"/>
                </a:solidFill>
                <a:latin typeface="ui-monospace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8689" y="2527799"/>
            <a:ext cx="770561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 spc="119">
                <a:solidFill>
                  <a:srgbClr val="101010"/>
                </a:solidFill>
                <a:latin typeface="ui-monospace"/>
              </a:rPr>
              <a:t>COLLECT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6135" y="2527799"/>
            <a:ext cx="217051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>
                <a:solidFill>
                  <a:srgbClr val="6B6B66"/>
                </a:solidFill>
                <a:latin typeface="ui-monospace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3597" y="2527799"/>
            <a:ext cx="550353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 spc="119">
                <a:solidFill>
                  <a:srgbClr val="101010"/>
                </a:solidFill>
                <a:latin typeface="ui-monospace"/>
              </a:rPr>
              <a:t>STORE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1650" y="2527799"/>
            <a:ext cx="217051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>
                <a:solidFill>
                  <a:srgbClr val="6B6B66"/>
                </a:solidFill>
                <a:latin typeface="ui-monospace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89112" y="2527799"/>
            <a:ext cx="770559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 spc="119">
                <a:solidFill>
                  <a:srgbClr val="101010"/>
                </a:solidFill>
                <a:latin typeface="ui-monospace"/>
              </a:rPr>
              <a:t>DISPLAY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11074" y="2425117"/>
            <a:ext cx="923901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u="none">
                <a:solidFill>
                  <a:srgbClr val="6B6B66"/>
                </a:solidFill>
                <a:latin typeface="ui-monospace"/>
              </a:rPr>
              <a:t>local socket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80817" y="3153082"/>
            <a:ext cx="1041559" cy="30403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40" b="1" i="0" u="none" spc="-8">
                <a:solidFill>
                  <a:srgbClr val="101010"/>
                </a:solidFill>
                <a:latin typeface="Helvetica Neue"/>
              </a:rPr>
              <a:t>infoLoggerD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45272" y="3379211"/>
            <a:ext cx="912650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 u="none">
                <a:solidFill>
                  <a:srgbClr val="6B6B66"/>
                </a:solidFill>
                <a:latin typeface="Helvetica Neue"/>
              </a:rPr>
              <a:t>one per node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75044" y="3154890"/>
            <a:ext cx="615934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6B6B66"/>
                </a:solidFill>
                <a:latin typeface="ui-monospace"/>
              </a:rPr>
              <a:t>tcp 6006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12193" y="3153082"/>
            <a:ext cx="1454163" cy="30403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40" b="1" i="0" u="none" spc="-8">
                <a:solidFill>
                  <a:srgbClr val="E1251B"/>
                </a:solidFill>
                <a:latin typeface="Helvetica Neue"/>
              </a:rPr>
              <a:t>infoLoggerServer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5591" y="3379211"/>
            <a:ext cx="807369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 u="none">
                <a:solidFill>
                  <a:srgbClr val="E1251B"/>
                </a:solidFill>
                <a:latin typeface="Helvetica Neue"/>
              </a:rPr>
              <a:t>one, central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97049" y="3154890"/>
            <a:ext cx="615934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6B6B66"/>
                </a:solidFill>
                <a:latin typeface="ui-monospace"/>
              </a:rPr>
              <a:t>tcp 3306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00702" y="3417122"/>
            <a:ext cx="636830" cy="24612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 u="none">
                <a:solidFill>
                  <a:srgbClr val="E1251B"/>
                </a:solidFill>
                <a:latin typeface="Helvetica Neue"/>
              </a:rPr>
              <a:t>one table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55439" y="3154890"/>
            <a:ext cx="384959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6B6B66"/>
                </a:solidFill>
                <a:latin typeface="ui-monospace"/>
              </a:rPr>
              <a:t>query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58117" y="3153082"/>
            <a:ext cx="1018252" cy="30403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40" b="1" i="0" u="none" spc="-8">
                <a:solidFill>
                  <a:srgbClr val="101010"/>
                </a:solidFill>
                <a:latin typeface="Helvetica Neue"/>
              </a:rPr>
              <a:t>infoBrowser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3662" y="3379211"/>
            <a:ext cx="867163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 u="none">
                <a:solidFill>
                  <a:srgbClr val="6B6B66"/>
                </a:solidFill>
                <a:latin typeface="Helvetica Neue"/>
              </a:rPr>
              <a:t>desktop GUI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98223" y="2671536"/>
            <a:ext cx="1462684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6B6B66"/>
                </a:solidFill>
                <a:latin typeface="ui-monospace"/>
              </a:rPr>
              <a:t>live push, tcp 6102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16066" y="4003157"/>
            <a:ext cx="3236709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50" b="0" i="0" u="none" spc="-4">
                <a:solidFill>
                  <a:srgbClr val="E1251B"/>
                </a:solidFill>
                <a:latin typeface="Helvetica Neue"/>
              </a:rPr>
              <a:t>One process and one table for the whole farm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01228" y="4442270"/>
            <a:ext cx="217051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>
                <a:solidFill>
                  <a:srgbClr val="6B6B66"/>
                </a:solidFill>
                <a:latin typeface="ui-monospace"/>
              </a:rPr>
              <a:t>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28689" y="4442270"/>
            <a:ext cx="1761006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 spc="119">
                <a:solidFill>
                  <a:srgbClr val="101010"/>
                </a:solidFill>
                <a:latin typeface="ui-monospace"/>
              </a:rPr>
              <a:t>THE LIMITS TODAY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3913" y="4726597"/>
            <a:ext cx="1430857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1" i="0" u="none" spc="119">
                <a:solidFill>
                  <a:srgbClr val="101010"/>
                </a:solidFill>
                <a:latin typeface="ui-monospace"/>
              </a:rPr>
              <a:t>ONE SQL TABLE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33913" y="4905099"/>
            <a:ext cx="2136321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90" b="0" i="0" u="none">
                <a:solidFill>
                  <a:srgbClr val="101010"/>
                </a:solidFill>
                <a:latin typeface="Helvetica Neue"/>
              </a:rPr>
              <a:t>Every message in the farm lands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33913" y="5047263"/>
            <a:ext cx="1515082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90" b="0" i="0" u="none">
                <a:solidFill>
                  <a:srgbClr val="101010"/>
                </a:solidFill>
                <a:latin typeface="Helvetica Neue"/>
              </a:rPr>
              <a:t>in one messages table.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7634" y="4726597"/>
            <a:ext cx="1540960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1" i="0" u="none" spc="119">
                <a:solidFill>
                  <a:srgbClr val="101010"/>
                </a:solidFill>
                <a:latin typeface="ui-monospace"/>
              </a:rPr>
              <a:t>NO AGGREGATION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7634" y="4905099"/>
            <a:ext cx="1893130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90" b="0" i="0" u="none">
                <a:solidFill>
                  <a:srgbClr val="101010"/>
                </a:solidFill>
                <a:latin typeface="Helvetica Neue"/>
              </a:rPr>
              <a:t>infoBrowser lists single lines.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7634" y="5047263"/>
            <a:ext cx="1912738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90" b="0" i="0" u="none">
                <a:solidFill>
                  <a:srgbClr val="101010"/>
                </a:solidFill>
                <a:latin typeface="Helvetica Neue"/>
              </a:rPr>
              <a:t>It draws no counts over time.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41354" y="4726597"/>
            <a:ext cx="2201257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1" i="0" u="none" spc="119">
                <a:solidFill>
                  <a:srgbClr val="101010"/>
                </a:solidFill>
                <a:latin typeface="ui-monospace"/>
              </a:rPr>
              <a:t>ONE POLICY, ONE COPY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41354" y="4905099"/>
            <a:ext cx="2048881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90" b="0" i="0" u="none">
                <a:solidFill>
                  <a:srgbClr val="101010"/>
                </a:solidFill>
                <a:latin typeface="Helvetica Neue"/>
              </a:rPr>
              <a:t>One retention rule covers every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41354" y="5047263"/>
            <a:ext cx="2070902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90" b="0" i="0" u="none">
                <a:solidFill>
                  <a:srgbClr val="101010"/>
                </a:solidFill>
                <a:latin typeface="Helvetica Neue"/>
              </a:rPr>
              <a:t>message. Nothing is replicated.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9600" y="6360414"/>
            <a:ext cx="2119926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u="none" spc="70">
                <a:solidFill>
                  <a:srgbClr val="6B6B66"/>
                </a:solidFill>
                <a:latin typeface="ui-monospace"/>
              </a:rPr>
              <a:t>ALICE COLLABORATION BOARD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42702" y="6360414"/>
            <a:ext cx="593592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u="none" spc="70">
                <a:solidFill>
                  <a:srgbClr val="6B6B66"/>
                </a:solidFill>
                <a:latin typeface="ui-monospace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3532" y="527661"/>
            <a:ext cx="4493972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u="none" spc="70">
                <a:solidFill>
                  <a:srgbClr val="6B6B66"/>
                </a:solidFill>
                <a:latin typeface="ui-monospace"/>
              </a:rPr>
              <a:t>MODERN LOGGING PLATFORM WITH MACHINE LEARNING FOR HPC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72776"/>
            <a:ext cx="2082475" cy="8976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110" b="1" i="0" u="none" spc="-100">
                <a:solidFill>
                  <a:srgbClr val="101010"/>
                </a:solidFill>
                <a:latin typeface="Helvetica Neue"/>
              </a:rPr>
              <a:t>What we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67825"/>
            <a:ext cx="3075492" cy="8976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110" b="1" i="0" u="none" spc="-100">
                <a:solidFill>
                  <a:srgbClr val="101010"/>
                </a:solidFill>
                <a:latin typeface="Helvetica Neue"/>
              </a:rPr>
              <a:t>want to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5191" y="1296186"/>
            <a:ext cx="5541800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 u="none">
                <a:solidFill>
                  <a:srgbClr val="6B6B66"/>
                </a:solidFill>
                <a:latin typeface="Helvetica Neue"/>
              </a:rPr>
              <a:t>Six objectives shape the design that follows. Each one names a property the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5191" y="1476685"/>
            <a:ext cx="5596771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 u="none">
                <a:solidFill>
                  <a:srgbClr val="6B6B66"/>
                </a:solidFill>
                <a:latin typeface="Helvetica Neue"/>
              </a:rPr>
              <a:t>platform must have. Together they keep the volume where it is made, and the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5191" y="1657183"/>
            <a:ext cx="1555266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 u="none">
                <a:solidFill>
                  <a:srgbClr val="6B6B66"/>
                </a:solidFill>
                <a:latin typeface="Helvetica Neue"/>
              </a:rPr>
              <a:t>value where it is safe.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191" y="3167253"/>
            <a:ext cx="3113103" cy="40538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10" b="1" i="0" u="none" spc="7">
                <a:solidFill>
                  <a:srgbClr val="E1251B"/>
                </a:solidFill>
                <a:latin typeface="Helvetica Neue"/>
              </a:rPr>
              <a:t>NO BULK OVER THE WIRE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191" y="3477482"/>
            <a:ext cx="3929795" cy="30403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90" b="0" i="0" u="none">
                <a:solidFill>
                  <a:srgbClr val="3A3A36"/>
                </a:solidFill>
                <a:latin typeface="Helvetica Neue"/>
              </a:rPr>
              <a:t>Application logs at info severity are most of the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191" y="3669054"/>
            <a:ext cx="4026396" cy="30403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90" b="0" i="0" u="none">
                <a:solidFill>
                  <a:srgbClr val="3A3A36"/>
                </a:solidFill>
                <a:latin typeface="Helvetica Neue"/>
              </a:rPr>
              <a:t>volume. Each worker indexes its own on its 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191" y="3860625"/>
            <a:ext cx="2937260" cy="30403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90" b="0" i="0" u="none">
                <a:solidFill>
                  <a:srgbClr val="3A3A36"/>
                </a:solidFill>
                <a:latin typeface="Helvetica Neue"/>
              </a:rPr>
              <a:t>disk. They don’t cross the network.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5299" y="3874032"/>
            <a:ext cx="2464058" cy="4198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80" b="1" i="0" u="none" spc="7">
                <a:solidFill>
                  <a:srgbClr val="101010"/>
                </a:solidFill>
                <a:latin typeface="Helvetica Neue"/>
              </a:rPr>
              <a:t>SPLIT BY SEVERITY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5299" y="4189833"/>
            <a:ext cx="4318772" cy="30403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70" b="0" i="0" u="none">
                <a:solidFill>
                  <a:srgbClr val="3A3A36"/>
                </a:solidFill>
                <a:latin typeface="Helvetica Neue"/>
              </a:rPr>
              <a:t>We split some log families by severity, not by source.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5299" y="4377118"/>
            <a:ext cx="4452181" cy="30403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70" b="0" i="0" u="none">
                <a:solidFill>
                  <a:srgbClr val="3A3A36"/>
                </a:solidFill>
                <a:latin typeface="Helvetica Neue"/>
              </a:rPr>
              <a:t>That puts the volume on one side and the value on the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5299" y="4564404"/>
            <a:ext cx="4139392" cy="30403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70" b="0" i="0" u="none">
                <a:solidFill>
                  <a:srgbClr val="3A3A36"/>
                </a:solidFill>
                <a:latin typeface="Helvetica Neue"/>
              </a:rPr>
              <a:t>other. Each kind of log then gets its own keep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05299" y="4751689"/>
            <a:ext cx="2482221" cy="30403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70" b="0" i="0" u="none">
                <a:solidFill>
                  <a:srgbClr val="3A3A36"/>
                </a:solidFill>
                <a:latin typeface="Helvetica Neue"/>
              </a:rPr>
              <a:t>and its own number of copies.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60194" y="2513481"/>
            <a:ext cx="1130927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19" b="1" i="0" u="none" spc="32">
                <a:solidFill>
                  <a:srgbClr val="101010"/>
                </a:solidFill>
                <a:latin typeface="Helvetica Neue"/>
              </a:rPr>
              <a:t>DISTRIBUTED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0194" y="2705219"/>
            <a:ext cx="3100727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0" i="0" u="none">
                <a:solidFill>
                  <a:srgbClr val="3A3A36"/>
                </a:solidFill>
                <a:latin typeface="Helvetica Neue"/>
              </a:rPr>
              <a:t>Five machines share the work as one cluster. Together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60194" y="2842022"/>
            <a:ext cx="2958959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0" i="0" u="none">
                <a:solidFill>
                  <a:srgbClr val="3A3A36"/>
                </a:solidFill>
                <a:latin typeface="Helvetica Neue"/>
              </a:rPr>
              <a:t>they handle more throughput than any one machine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60194" y="2978825"/>
            <a:ext cx="354098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0" i="0" u="none">
                <a:solidFill>
                  <a:srgbClr val="3A3A36"/>
                </a:solidFill>
                <a:latin typeface="Helvetica Neue"/>
              </a:rPr>
              <a:t>could.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60194" y="3748754"/>
            <a:ext cx="804154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19" b="1" i="0" u="none" spc="32">
                <a:solidFill>
                  <a:srgbClr val="101010"/>
                </a:solidFill>
                <a:latin typeface="Helvetica Neue"/>
              </a:rPr>
              <a:t>DURABLE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60194" y="3940492"/>
            <a:ext cx="3174504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0" i="0" u="none">
                <a:solidFill>
                  <a:srgbClr val="3A3A36"/>
                </a:solidFill>
                <a:latin typeface="Helvetica Neue"/>
              </a:rPr>
              <a:t>Some logs matter more than others. We need a storage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60194" y="4077295"/>
            <a:ext cx="2915561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0" i="0" u="none">
                <a:solidFill>
                  <a:srgbClr val="3A3A36"/>
                </a:solidFill>
                <a:latin typeface="Helvetica Neue"/>
              </a:rPr>
              <a:t>tier that can ensure higher replication and retention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60194" y="4214098"/>
            <a:ext cx="988516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0" i="0" u="none">
                <a:solidFill>
                  <a:srgbClr val="3A3A36"/>
                </a:solidFill>
                <a:latin typeface="Helvetica Neue"/>
              </a:rPr>
              <a:t>policies for them.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5088874"/>
            <a:ext cx="2152233" cy="30403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19" b="1" i="0" u="none" spc="36">
                <a:solidFill>
                  <a:srgbClr val="101010"/>
                </a:solidFill>
                <a:latin typeface="Helvetica Neue"/>
              </a:rPr>
              <a:t>WORKERS STAY CHEAP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5308068"/>
            <a:ext cx="3510439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19" b="0" i="0" u="none">
                <a:solidFill>
                  <a:srgbClr val="3A3A36"/>
                </a:solidFill>
                <a:latin typeface="Helvetica Neue"/>
              </a:rPr>
              <a:t>A worker indexes its own logs and answers a query now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5457373"/>
            <a:ext cx="3599807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19" b="0" i="0" u="none">
                <a:solidFill>
                  <a:srgbClr val="3A3A36"/>
                </a:solidFill>
                <a:latin typeface="Helvetica Neue"/>
              </a:rPr>
              <a:t>and then. It never manages the cluster. It takes four of the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5606677"/>
            <a:ext cx="3400336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19" b="0" i="0" u="none">
                <a:solidFill>
                  <a:srgbClr val="3A3A36"/>
                </a:solidFill>
                <a:latin typeface="Helvetica Neue"/>
              </a:rPr>
              <a:t>128 cores an EPN has, and little memory. We must not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5755981"/>
            <a:ext cx="2982748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19" b="0" i="0" u="none">
                <a:solidFill>
                  <a:srgbClr val="3A3A36"/>
                </a:solidFill>
                <a:latin typeface="Helvetica Neue"/>
              </a:rPr>
              <a:t>disturb the expensive timeframe reconstruction.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60194" y="5106781"/>
            <a:ext cx="1461879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19" b="1" i="0" u="none" spc="32">
                <a:solidFill>
                  <a:srgbClr val="101010"/>
                </a:solidFill>
                <a:latin typeface="Helvetica Neue"/>
              </a:rPr>
              <a:t>FAULT TOLERANT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60194" y="5298519"/>
            <a:ext cx="3119854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0" i="0" u="none">
                <a:solidFill>
                  <a:srgbClr val="3A3A36"/>
                </a:solidFill>
                <a:latin typeface="Helvetica Neue"/>
              </a:rPr>
              <a:t>Two of the three storage machines are enough to keep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60194" y="5435322"/>
            <a:ext cx="3105710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0" i="0" u="none">
                <a:solidFill>
                  <a:srgbClr val="3A3A36"/>
                </a:solidFill>
                <a:latin typeface="Helvetica Neue"/>
              </a:rPr>
              <a:t>going. One can die and we lose nothing. In production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60194" y="5572125"/>
            <a:ext cx="3036594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0" i="0" u="none">
                <a:solidFill>
                  <a:srgbClr val="3A3A36"/>
                </a:solidFill>
                <a:latin typeface="Helvetica Neue"/>
              </a:rPr>
              <a:t>the tier is bigger, so more can die. Lose a worker and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60194" y="5708928"/>
            <a:ext cx="1494187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0" i="0" u="none">
                <a:solidFill>
                  <a:srgbClr val="3A3A36"/>
                </a:solidFill>
                <a:latin typeface="Helvetica Neue"/>
              </a:rPr>
              <a:t>we lose only its local logs.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600" y="6448996"/>
            <a:ext cx="2119926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u="none" spc="70">
                <a:solidFill>
                  <a:srgbClr val="6B6B66"/>
                </a:solidFill>
                <a:latin typeface="ui-monospace"/>
              </a:rPr>
              <a:t>ALICE COLLABORATION BOARD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42702" y="6448996"/>
            <a:ext cx="593592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u="none" spc="70">
                <a:solidFill>
                  <a:srgbClr val="6B6B66"/>
                </a:solidFill>
                <a:latin typeface="ui-monospace"/>
              </a:rP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3532" y="527661"/>
            <a:ext cx="4493972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u="none" spc="70">
                <a:solidFill>
                  <a:srgbClr val="6B6B66"/>
                </a:solidFill>
                <a:latin typeface="ui-monospace"/>
              </a:rPr>
              <a:t>MODERN LOGGING PLATFORM WITH MACHINE LEARNING FOR HPC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92195"/>
            <a:ext cx="3531495" cy="8976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110" b="1" i="0" u="none" spc="-100">
                <a:solidFill>
                  <a:srgbClr val="101010"/>
                </a:solidFill>
                <a:latin typeface="Helvetica Neue"/>
              </a:rPr>
              <a:t>Our suggested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387245"/>
            <a:ext cx="2867019" cy="8976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110" b="1" i="0" u="none" spc="-100">
                <a:solidFill>
                  <a:srgbClr val="101010"/>
                </a:solidFill>
                <a:latin typeface="Helvetica Neue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386394"/>
            <a:ext cx="2532209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30" b="0" i="0" u="none" spc="50">
                <a:solidFill>
                  <a:srgbClr val="E1251B"/>
                </a:solidFill>
                <a:latin typeface="ui-monospace"/>
              </a:rPr>
              <a:t>5 VMS — 2 WORKER, 3 STORAGE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564630"/>
            <a:ext cx="2063186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30" b="0" i="0" u="none" spc="50">
                <a:solidFill>
                  <a:srgbClr val="E1251B"/>
                </a:solidFill>
                <a:latin typeface="ui-monospace"/>
              </a:rPr>
              <a:t>ONE OPENSEARCH CLUSTER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742867"/>
            <a:ext cx="2344632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30" b="0" i="0" u="none" spc="50">
                <a:solidFill>
                  <a:srgbClr val="E1251B"/>
                </a:solidFill>
                <a:latin typeface="ui-monospace"/>
              </a:rPr>
              <a:t>NATIVE SYSTEMD, NO DOCKER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1717" y="1001025"/>
            <a:ext cx="217289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>
                <a:solidFill>
                  <a:srgbClr val="6B6B66"/>
                </a:solidFill>
                <a:latin typeface="ui-monospace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19736" y="1001025"/>
            <a:ext cx="1213384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 spc="119">
                <a:solidFill>
                  <a:srgbClr val="101010"/>
                </a:solidFill>
                <a:latin typeface="ui-monospace"/>
              </a:rPr>
              <a:t>WORKER 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19736" y="1441157"/>
            <a:ext cx="1094923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 i="0" u="none" spc="23">
                <a:solidFill>
                  <a:srgbClr val="6B6B66"/>
                </a:solidFill>
                <a:latin typeface="ui-monospace"/>
              </a:rPr>
              <a:t>alice-ingest-1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9374" y="1441157"/>
            <a:ext cx="1016645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570" b="0" i="0" u="none" spc="23">
                <a:solidFill>
                  <a:srgbClr val="6B6B66"/>
                </a:solidFill>
                <a:latin typeface="ui-monospace"/>
              </a:rPr>
              <a:t>role = worker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1422" y="1748489"/>
            <a:ext cx="870698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alice-replay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1559" y="1905145"/>
            <a:ext cx="810423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0" b="0" i="0" u="none">
                <a:solidFill>
                  <a:srgbClr val="6B6B66"/>
                </a:solidFill>
                <a:latin typeface="Helvetica Neue"/>
              </a:rPr>
              <a:t>real EPN logs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9951" y="1748489"/>
            <a:ext cx="615130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node-01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9951" y="1905145"/>
            <a:ext cx="705945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6B6B66"/>
                </a:solidFill>
                <a:latin typeface="Helvetica Neue"/>
              </a:rPr>
              <a:t>data, ingest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3418" y="2299428"/>
            <a:ext cx="1311914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6B6B66"/>
                </a:solidFill>
                <a:latin typeface="ui-monospace"/>
              </a:rPr>
              <a:t>application-local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33745" y="2581247"/>
            <a:ext cx="2273106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 i="0" u="none" spc="11">
                <a:solidFill>
                  <a:srgbClr val="101010"/>
                </a:solidFill>
                <a:latin typeface="ui-monospace"/>
              </a:rPr>
              <a:t>application-logs-local-node-01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3745" y="2693709"/>
            <a:ext cx="1928170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1 shard, 0 replicas, never leaves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58047" y="1441157"/>
            <a:ext cx="1094921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 i="0" u="none" spc="23">
                <a:solidFill>
                  <a:srgbClr val="6B6B66"/>
                </a:solidFill>
                <a:latin typeface="ui-monospace"/>
              </a:rPr>
              <a:t>alice-ingest-2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683" y="1441157"/>
            <a:ext cx="1016645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570" b="0" i="0" u="none" spc="23">
                <a:solidFill>
                  <a:srgbClr val="6B6B66"/>
                </a:solidFill>
                <a:latin typeface="ui-monospace"/>
              </a:rPr>
              <a:t>role = worker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59733" y="1748489"/>
            <a:ext cx="870697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alice-replay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9870" y="1905145"/>
            <a:ext cx="810421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0" b="0" i="0" u="none">
                <a:solidFill>
                  <a:srgbClr val="6B6B66"/>
                </a:solidFill>
                <a:latin typeface="Helvetica Neue"/>
              </a:rPr>
              <a:t>real EPN logs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8261" y="1748489"/>
            <a:ext cx="615129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node-02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8261" y="1905145"/>
            <a:ext cx="705945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6B6B66"/>
                </a:solidFill>
                <a:latin typeface="Helvetica Neue"/>
              </a:rPr>
              <a:t>data, ingest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21728" y="2299428"/>
            <a:ext cx="1311914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6B6B66"/>
                </a:solidFill>
                <a:latin typeface="ui-monospace"/>
              </a:rPr>
              <a:t>application-local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72055" y="2581247"/>
            <a:ext cx="2273106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 i="0" u="none" spc="11">
                <a:solidFill>
                  <a:srgbClr val="101010"/>
                </a:solidFill>
                <a:latin typeface="ui-monospace"/>
              </a:rPr>
              <a:t>application-logs-local-node-02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72055" y="2693709"/>
            <a:ext cx="1928170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1 shard, 0 replicas, never leaves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7463" y="3582031"/>
            <a:ext cx="2469523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6B6B66"/>
                </a:solidFill>
                <a:latin typeface="ui-monospace"/>
              </a:rPr>
              <a:t>infologger + application-central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1717" y="3651740"/>
            <a:ext cx="217289" cy="2316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>
                <a:solidFill>
                  <a:srgbClr val="6B6B66"/>
                </a:solidFill>
                <a:latin typeface="ui-monospace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19736" y="3651740"/>
            <a:ext cx="1323808" cy="2316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 spc="119">
                <a:solidFill>
                  <a:srgbClr val="101010"/>
                </a:solidFill>
                <a:latin typeface="ui-monospace"/>
              </a:rPr>
              <a:t>STORAGE TIER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19736" y="4063367"/>
            <a:ext cx="1094923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 i="0" u="none" spc="23">
                <a:solidFill>
                  <a:srgbClr val="6B6B66"/>
                </a:solidFill>
                <a:latin typeface="ui-monospace"/>
              </a:rPr>
              <a:t>alice-ingest-3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82370" y="4074416"/>
            <a:ext cx="615773" cy="18821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40" b="1" i="0" u="none" spc="86">
                <a:solidFill>
                  <a:srgbClr val="E1251B"/>
                </a:solidFill>
                <a:latin typeface="ui-monospace"/>
              </a:rPr>
              <a:t>Control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4759" y="4190186"/>
            <a:ext cx="615130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node-03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04759" y="4346842"/>
            <a:ext cx="1768560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6B6B66"/>
                </a:solidFill>
                <a:latin typeface="Helvetica Neue"/>
              </a:rPr>
              <a:t>cluster_manager, data, ingest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04759" y="4481403"/>
            <a:ext cx="1094923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 i="0" u="none" spc="23">
                <a:solidFill>
                  <a:srgbClr val="6B6B66"/>
                </a:solidFill>
                <a:latin typeface="ui-monospace"/>
              </a:rPr>
              <a:t>role = storage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05242" y="4783879"/>
            <a:ext cx="728448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Dashboards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84306" y="4783879"/>
            <a:ext cx="603558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nginx TLS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05242" y="4983394"/>
            <a:ext cx="805601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Alertmanager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75442" y="4063367"/>
            <a:ext cx="1094923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 i="0" u="none" spc="23">
                <a:solidFill>
                  <a:srgbClr val="6B6B66"/>
                </a:solidFill>
                <a:latin typeface="ui-monospace"/>
              </a:rPr>
              <a:t>alice-ingest-4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60465" y="4190186"/>
            <a:ext cx="615130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node-04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60465" y="4346842"/>
            <a:ext cx="1768560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6B6B66"/>
                </a:solidFill>
                <a:latin typeface="Helvetica Neue"/>
              </a:rPr>
              <a:t>cluster_manager, data, ingest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60465" y="4481403"/>
            <a:ext cx="1094922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 i="0" u="none" spc="23">
                <a:solidFill>
                  <a:srgbClr val="6B6B66"/>
                </a:solidFill>
                <a:latin typeface="ui-monospace"/>
              </a:rPr>
              <a:t>role = storage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60949" y="4783879"/>
            <a:ext cx="706106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Trend rollup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60949" y="4983394"/>
            <a:ext cx="947690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Signal projector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31149" y="4063367"/>
            <a:ext cx="1094923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 i="0" u="none" spc="23">
                <a:solidFill>
                  <a:srgbClr val="6B6B66"/>
                </a:solidFill>
                <a:latin typeface="ui-monospace"/>
              </a:rPr>
              <a:t>alice-ingest-5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16171" y="4190186"/>
            <a:ext cx="615132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node-05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16171" y="4346842"/>
            <a:ext cx="1768562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6B6B66"/>
                </a:solidFill>
                <a:latin typeface="Helvetica Neue"/>
              </a:rPr>
              <a:t>cluster_manager, data, ingest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16171" y="4481403"/>
            <a:ext cx="1094924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 i="0" u="none" spc="23">
                <a:solidFill>
                  <a:srgbClr val="6B6B66"/>
                </a:solidFill>
                <a:latin typeface="ui-monospace"/>
              </a:rPr>
              <a:t>role = storage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6656" y="4783879"/>
            <a:ext cx="531227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Live lane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87846" y="5459982"/>
            <a:ext cx="2803368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 i="0" u="none" spc="11">
                <a:solidFill>
                  <a:srgbClr val="E1251B"/>
                </a:solidFill>
                <a:latin typeface="ui-monospace"/>
              </a:rPr>
              <a:t>infologger + application-logs-central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73023" y="5448933"/>
            <a:ext cx="3120337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E1251B"/>
                </a:solidFill>
                <a:latin typeface="Helvetica Neue"/>
              </a:rPr>
              <a:t>1 shard, 2 replicas, one copy on every storage node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9600" y="6360414"/>
            <a:ext cx="2119926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u="none" spc="70">
                <a:solidFill>
                  <a:srgbClr val="6B6B66"/>
                </a:solidFill>
                <a:latin typeface="ui-monospace"/>
              </a:rPr>
              <a:t>ALICE COLLABORATION BOARD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42702" y="6360414"/>
            <a:ext cx="593592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u="none" spc="70">
                <a:solidFill>
                  <a:srgbClr val="6B6B66"/>
                </a:solidFill>
                <a:latin typeface="ui-monospace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3532" y="527661"/>
            <a:ext cx="4493972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u="none" spc="70">
                <a:solidFill>
                  <a:srgbClr val="6B6B66"/>
                </a:solidFill>
                <a:latin typeface="ui-monospace"/>
              </a:rPr>
              <a:t>MODERN LOGGING PLATFORM WITH MACHINE LEARNING FOR HPC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66584"/>
            <a:ext cx="2434001" cy="8976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110" b="1" i="0" u="none" spc="-100">
                <a:solidFill>
                  <a:srgbClr val="101010"/>
                </a:solidFill>
                <a:latin typeface="Helvetica Neue"/>
              </a:rPr>
              <a:t>Federated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61634"/>
            <a:ext cx="1616506" cy="8976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110" b="1" i="0" u="none" spc="-100">
                <a:solidFill>
                  <a:srgbClr val="101010"/>
                </a:solidFill>
                <a:latin typeface="Helvetica Neue"/>
              </a:rPr>
              <a:t>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016633"/>
            <a:ext cx="3257925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 u="none">
                <a:solidFill>
                  <a:srgbClr val="6B6B66"/>
                </a:solidFill>
                <a:latin typeface="Helvetica Neue"/>
              </a:rPr>
              <a:t>Every machine writes its own logs and keeps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197132"/>
            <a:ext cx="3285571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 u="none">
                <a:solidFill>
                  <a:srgbClr val="6B6B66"/>
                </a:solidFill>
                <a:latin typeface="Helvetica Neue"/>
              </a:rPr>
              <a:t>them. So the real question is how one person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377630"/>
            <a:ext cx="3457075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 u="none">
                <a:solidFill>
                  <a:srgbClr val="6B6B66"/>
                </a:solidFill>
                <a:latin typeface="Helvetica Neue"/>
              </a:rPr>
              <a:t>searches all of them at once. Our answer: make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558129"/>
            <a:ext cx="3048327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 u="none">
                <a:solidFill>
                  <a:srgbClr val="6B6B66"/>
                </a:solidFill>
                <a:latin typeface="Helvetica Neue"/>
              </a:rPr>
              <a:t>the machines one cluster, and ask it once.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130891"/>
            <a:ext cx="2438340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30" b="0" i="0" u="none" spc="50">
                <a:solidFill>
                  <a:srgbClr val="E1251B"/>
                </a:solidFill>
                <a:latin typeface="ui-monospace"/>
              </a:rPr>
              <a:t>ONE CLUSTER, FIVE MACHINES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309128"/>
            <a:ext cx="2438340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30" b="0" i="0" u="none" spc="50">
                <a:solidFill>
                  <a:srgbClr val="E1251B"/>
                </a:solidFill>
                <a:latin typeface="ui-monospace"/>
              </a:rPr>
              <a:t>ONE UPGRADE WINDOW FOR 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487364"/>
            <a:ext cx="2250763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30" b="0" i="0" u="none" spc="50">
                <a:solidFill>
                  <a:srgbClr val="E1251B"/>
                </a:solidFill>
                <a:latin typeface="ui-monospace"/>
              </a:rPr>
              <a:t>PUSH UP, NEVER POLL DOWN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2809" y="964018"/>
            <a:ext cx="1876896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 i="0" u="none" spc="23">
                <a:solidFill>
                  <a:srgbClr val="6B6B66"/>
                </a:solidFill>
                <a:latin typeface="ui-monospace"/>
              </a:rPr>
              <a:t>one query, every machine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1720" y="1226941"/>
            <a:ext cx="217289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>
                <a:solidFill>
                  <a:srgbClr val="6B6B66"/>
                </a:solidFill>
                <a:latin typeface="ui-monospace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19738" y="1226941"/>
            <a:ext cx="3198936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 spc="119">
                <a:solidFill>
                  <a:srgbClr val="101010"/>
                </a:solidFill>
                <a:latin typeface="ui-monospace"/>
              </a:rPr>
              <a:t>ASK ONCE — EVERY NODE ANSWERS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3539" y="1888898"/>
            <a:ext cx="772489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One query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9934" y="2093059"/>
            <a:ext cx="1159699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0" b="0" i="0" u="none">
                <a:solidFill>
                  <a:srgbClr val="6B6B66"/>
                </a:solidFill>
                <a:latin typeface="Helvetica Neue"/>
              </a:rPr>
              <a:t>(one saved pattern)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42965" y="1888898"/>
            <a:ext cx="1275909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Storage machine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6271" y="2093059"/>
            <a:ext cx="1229297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0" b="0" i="0" u="none">
                <a:solidFill>
                  <a:srgbClr val="6B6B66"/>
                </a:solidFill>
                <a:latin typeface="Helvetica Neue"/>
              </a:rPr>
              <a:t>collects the answers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24730" y="2492090"/>
            <a:ext cx="3075653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Dashboards sends the query to a storage machine.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24730" y="2625101"/>
            <a:ext cx="3323666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That machine asks the others and merges the answers.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4144" y="1534063"/>
            <a:ext cx="530423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 i="0" u="none" spc="11">
                <a:solidFill>
                  <a:srgbClr val="101010"/>
                </a:solidFill>
                <a:latin typeface="ui-monospace"/>
              </a:rPr>
              <a:t>node-01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9212" y="1534063"/>
            <a:ext cx="757702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 i="0" u="none" spc="11">
                <a:solidFill>
                  <a:srgbClr val="101010"/>
                </a:solidFill>
                <a:latin typeface="ui-monospace"/>
              </a:rPr>
              <a:t>local logs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4144" y="1819084"/>
            <a:ext cx="530423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 i="0" u="none" spc="11">
                <a:solidFill>
                  <a:srgbClr val="101010"/>
                </a:solidFill>
                <a:latin typeface="ui-monospace"/>
              </a:rPr>
              <a:t>node-02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9212" y="1819084"/>
            <a:ext cx="757702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 i="0" u="none" spc="11">
                <a:solidFill>
                  <a:srgbClr val="101010"/>
                </a:solidFill>
                <a:latin typeface="ui-monospace"/>
              </a:rPr>
              <a:t>local logs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3145" y="2180115"/>
            <a:ext cx="530423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 i="0" u="none" spc="11">
                <a:solidFill>
                  <a:srgbClr val="101010"/>
                </a:solidFill>
                <a:latin typeface="ui-monospace"/>
              </a:rPr>
              <a:t>node-03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3145" y="2351129"/>
            <a:ext cx="530423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 i="0" u="none" spc="11">
                <a:solidFill>
                  <a:srgbClr val="101010"/>
                </a:solidFill>
                <a:latin typeface="ui-monospace"/>
              </a:rPr>
              <a:t>node-04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3145" y="2522140"/>
            <a:ext cx="530423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 i="0" u="none" spc="11">
                <a:solidFill>
                  <a:srgbClr val="101010"/>
                </a:solidFill>
                <a:latin typeface="ui-monospace"/>
              </a:rPr>
              <a:t>node-05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9212" y="2284622"/>
            <a:ext cx="909274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 i="0" u="none" spc="11">
                <a:solidFill>
                  <a:srgbClr val="101010"/>
                </a:solidFill>
                <a:latin typeface="ui-monospace"/>
              </a:rPr>
              <a:t>storage part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9212" y="2455637"/>
            <a:ext cx="1060848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 i="0" u="none" spc="11">
                <a:solidFill>
                  <a:srgbClr val="101010"/>
                </a:solidFill>
                <a:latin typeface="ui-monospace"/>
              </a:rPr>
              <a:t>of the cluster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91720" y="3051090"/>
            <a:ext cx="217289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>
                <a:solidFill>
                  <a:srgbClr val="6B6B66"/>
                </a:solidFill>
                <a:latin typeface="ui-monospace"/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19738" y="3051090"/>
            <a:ext cx="2316504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 spc="119">
                <a:solidFill>
                  <a:srgbClr val="101010"/>
                </a:solidFill>
                <a:latin typeface="ui-monospace"/>
              </a:rPr>
              <a:t>ONE CLUSTER, NOT MANY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00736" y="3386713"/>
            <a:ext cx="860250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 i="0" u="none" spc="23">
                <a:solidFill>
                  <a:srgbClr val="6B6B66"/>
                </a:solidFill>
                <a:latin typeface="ui-monospace"/>
              </a:rPr>
              <a:t>ONE CLUSTER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24883" y="3386713"/>
            <a:ext cx="1016646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 i="0" u="none" spc="23">
                <a:solidFill>
                  <a:srgbClr val="6B6B66"/>
                </a:solidFill>
                <a:latin typeface="ui-monospace"/>
              </a:rPr>
              <a:t>MANY CLUSTERS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13258" y="3698688"/>
            <a:ext cx="1543371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6B6B66"/>
                </a:solidFill>
                <a:latin typeface="ui-monospace"/>
              </a:rPr>
              <a:t>cross-cluster search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05729" y="3917205"/>
            <a:ext cx="3087547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We run one cluster. The other way is many clusters,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05729" y="4031214"/>
            <a:ext cx="2386906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joined together by cross-cluster search.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05729" y="4308286"/>
            <a:ext cx="1642384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 i="0" u="none" spc="23">
                <a:solidFill>
                  <a:srgbClr val="6B6B66"/>
                </a:solidFill>
                <a:latin typeface="ui-monospace"/>
              </a:rPr>
              <a:t>PROS OF MANY CLUSTERS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76742" y="4515754"/>
            <a:ext cx="2783599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One bad query cannot slow the other clusters.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76742" y="4686769"/>
            <a:ext cx="2626240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Each cluster upgrades on its own schedule.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34052" y="3386713"/>
            <a:ext cx="1485989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 i="0" u="none" spc="23">
                <a:solidFill>
                  <a:srgbClr val="6B6B66"/>
                </a:solidFill>
                <a:latin typeface="ui-monospace"/>
              </a:rPr>
              <a:t>PROS OF ONE CLUSTER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5066" y="3641683"/>
            <a:ext cx="3676638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Built-in cross-cluster search does not scale to 100 machines.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05066" y="3869702"/>
            <a:ext cx="3923365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The cluster places shards and replicas itself, across all machines.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066" y="4097717"/>
            <a:ext cx="2628971" cy="21717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One set of users, roles and saved searches.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066" y="4325738"/>
            <a:ext cx="2097744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Detection and alerting streamlined.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05066" y="4553757"/>
            <a:ext cx="3251817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No federation layer of our own to write and keep alive.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91720" y="5027244"/>
            <a:ext cx="217289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>
                <a:solidFill>
                  <a:srgbClr val="6B6B66"/>
                </a:solidFill>
                <a:latin typeface="ui-monospace"/>
              </a:rPr>
              <a:t>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19738" y="5027244"/>
            <a:ext cx="3750415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 spc="119">
                <a:solidFill>
                  <a:srgbClr val="101010"/>
                </a:solidFill>
                <a:latin typeface="ui-monospace"/>
              </a:rPr>
              <a:t>FANOUT — NOT EVERYTHING IS PERFECT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19738" y="5404181"/>
            <a:ext cx="1496919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Every machine pays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19738" y="5608342"/>
            <a:ext cx="2212509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One search asks all of them, so all of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19738" y="5731851"/>
            <a:ext cx="2237744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them spend processor time on it. It is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19738" y="5855360"/>
            <a:ext cx="1940225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as slow as the slowest machine.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03945" y="5404181"/>
            <a:ext cx="2035539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Reconstruction comes first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03945" y="5608342"/>
            <a:ext cx="2070419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Those same machines reconstruct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03945" y="5731851"/>
            <a:ext cx="2177468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events. That is their real job, and log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03945" y="5855360"/>
            <a:ext cx="1973175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search must not compete with it.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8153" y="5404181"/>
            <a:ext cx="2253817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E1251B"/>
                </a:solidFill>
                <a:latin typeface="Helvetica Neue"/>
              </a:rPr>
              <a:t>So we ask only when we must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88153" y="5608342"/>
            <a:ext cx="2054989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The live lane covers watching. But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88153" y="5731851"/>
            <a:ext cx="2020110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“which machines saw this error in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88153" y="5855360"/>
            <a:ext cx="2172969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run 561234?” has to ask all of them.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9600" y="6574607"/>
            <a:ext cx="2119926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u="none" spc="70">
                <a:solidFill>
                  <a:srgbClr val="6B6B66"/>
                </a:solidFill>
                <a:latin typeface="ui-monospace"/>
              </a:rPr>
              <a:t>ALICE COLLABORATION BOARD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142702" y="6574607"/>
            <a:ext cx="593592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u="none" spc="70">
                <a:solidFill>
                  <a:srgbClr val="6B6B66"/>
                </a:solidFill>
                <a:latin typeface="ui-monospace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3532" y="527661"/>
            <a:ext cx="4493972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u="none" spc="70">
                <a:solidFill>
                  <a:srgbClr val="6B6B66"/>
                </a:solidFill>
                <a:latin typeface="ui-monospace"/>
              </a:rPr>
              <a:t>MODERN LOGGING PLATFORM WITH MACHINE LEARNING FOR HPC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66584"/>
            <a:ext cx="1045256" cy="8976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110" b="1" i="0" u="none" spc="-100">
                <a:solidFill>
                  <a:srgbClr val="101010"/>
                </a:solidFill>
                <a:latin typeface="Helvetica Neue"/>
              </a:rPr>
              <a:t>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61634"/>
            <a:ext cx="2258479" cy="8976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110" b="1" i="0" u="none" spc="-100">
                <a:solidFill>
                  <a:srgbClr val="101010"/>
                </a:solidFill>
                <a:latin typeface="Helvetica Neue"/>
              </a:rPr>
              <a:t>Fluent Bit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016633"/>
            <a:ext cx="3480542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 u="none">
                <a:solidFill>
                  <a:srgbClr val="6B6B66"/>
                </a:solidFill>
                <a:latin typeface="Helvetica Neue"/>
              </a:rPr>
              <a:t>A lightweight forwarder runs on the edge beside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197132"/>
            <a:ext cx="3342632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 u="none">
                <a:solidFill>
                  <a:srgbClr val="6B6B66"/>
                </a:solidFill>
                <a:latin typeface="Helvetica Neue"/>
              </a:rPr>
              <a:t>the program that writes the logs. It reads each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377630"/>
            <a:ext cx="3520083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 u="none">
                <a:solidFill>
                  <a:srgbClr val="6B6B66"/>
                </a:solidFill>
                <a:latin typeface="Helvetica Neue"/>
              </a:rPr>
              <a:t>line, decides where the line belongs and sends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558129"/>
            <a:ext cx="1492579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 u="none">
                <a:solidFill>
                  <a:srgbClr val="6B6B66"/>
                </a:solidFill>
                <a:latin typeface="Helvetica Neue"/>
              </a:rPr>
              <a:t>on. It stores nothing.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130891"/>
            <a:ext cx="1875770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30" b="0" i="0" u="none" spc="50">
                <a:solidFill>
                  <a:srgbClr val="E1251B"/>
                </a:solidFill>
                <a:latin typeface="ui-monospace"/>
              </a:rPr>
              <a:t>4 CANDIDATES WEIGHED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309128"/>
            <a:ext cx="2625917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30" b="0" i="0" u="none" spc="50">
                <a:solidFill>
                  <a:srgbClr val="E1251B"/>
                </a:solidFill>
                <a:latin typeface="ui-monospace"/>
              </a:rPr>
              <a:t>MATURITY AND SIZE DECIDED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487364"/>
            <a:ext cx="2438340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30" b="0" i="0" u="none" spc="50">
                <a:solidFill>
                  <a:srgbClr val="E1251B"/>
                </a:solidFill>
                <a:latin typeface="ui-monospace"/>
              </a:rPr>
              <a:t>A QUEUE IS A DIFFERENT JOB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1700" y="875485"/>
            <a:ext cx="206097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>
                <a:solidFill>
                  <a:srgbClr val="6B6B66"/>
                </a:solidFill>
                <a:latin typeface="ui-monospace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99451" y="875485"/>
            <a:ext cx="1406908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 spc="119">
                <a:solidFill>
                  <a:srgbClr val="101010"/>
                </a:solidFill>
                <a:latin typeface="ui-monospace"/>
              </a:rPr>
              <a:t>THE CANDIDATES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30090" y="886534"/>
            <a:ext cx="4052274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630" b="0" i="0" u="none">
                <a:solidFill>
                  <a:srgbClr val="3A3A36"/>
                </a:solidFill>
                <a:latin typeface="Helvetica Neue"/>
              </a:rPr>
              <a:t>Three are Apache 2.0, Telegraf is MIT. Job and governance are what differ.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22959" y="1200553"/>
            <a:ext cx="570286" cy="18821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 i="0" u="none" spc="23">
                <a:solidFill>
                  <a:srgbClr val="6B6B66"/>
                </a:solidFill>
                <a:latin typeface="ui-monospace"/>
              </a:rPr>
              <a:t>LANGUAGE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9904" y="1200553"/>
            <a:ext cx="1567964" cy="18821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 i="0" u="none" spc="23">
                <a:solidFill>
                  <a:srgbClr val="6B6B66"/>
                </a:solidFill>
                <a:latin typeface="ui-monospace"/>
              </a:rPr>
              <a:t>VENDOR’S MEMORY FIGURE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91163" y="1200553"/>
            <a:ext cx="997839" cy="18821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 i="0" u="none" spc="23">
                <a:solidFill>
                  <a:srgbClr val="6B6B66"/>
                </a:solidFill>
                <a:latin typeface="ui-monospace"/>
              </a:rPr>
              <a:t>WHO GOVERNS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22959" y="1571859"/>
            <a:ext cx="170498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9904" y="1571859"/>
            <a:ext cx="915382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about 450 KB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91163" y="1571859"/>
            <a:ext cx="1241995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CNCF*, graduated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6252" y="1582908"/>
            <a:ext cx="674924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720" b="1" i="0" u="none" spc="144">
                <a:solidFill>
                  <a:srgbClr val="E1251B"/>
                </a:solidFill>
                <a:latin typeface="ui-monospace"/>
              </a:rPr>
              <a:t>CHOSEN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22959" y="1830071"/>
            <a:ext cx="5711375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E1251B"/>
                </a:solidFill>
                <a:latin typeface="Helvetica Neue"/>
              </a:rPr>
              <a:t>Where the community has converged. Its own project page counts fifteen billion deployments, and it has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22959" y="1951258"/>
            <a:ext cx="5815048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E1251B"/>
                </a:solidFill>
                <a:latin typeface="Helvetica Neue"/>
              </a:rPr>
              <a:t>been in production for a decade. CNCF* graduated: the roadmap sits in a foundation, not in one company.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22959" y="2368238"/>
            <a:ext cx="791295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C and Ruby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59904" y="2368238"/>
            <a:ext cx="769757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over 60 MB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91163" y="2368238"/>
            <a:ext cx="1161145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CNCF, graduated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22959" y="2609134"/>
            <a:ext cx="6479204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The same project one size up, and the older of the two. A Ruby package tree on every worker is what we did not want.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22959" y="3008802"/>
            <a:ext cx="325517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Rust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59904" y="3008802"/>
            <a:ext cx="1115014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no vendor figure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91163" y="3008802"/>
            <a:ext cx="584591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Datadog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22959" y="3249702"/>
            <a:ext cx="5976104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Small and fast, and the benchmarks disagree on which of the two is smaller. One company decides its future.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95576" y="3461293"/>
            <a:ext cx="811065" cy="3764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40" b="1" i="0" u="none" spc="-23">
                <a:solidFill>
                  <a:srgbClr val="101010"/>
                </a:solidFill>
                <a:latin typeface="Helvetica Neue"/>
              </a:rPr>
              <a:t>Telegraf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95576" y="3728190"/>
            <a:ext cx="712696" cy="18821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 i="0" u="none" spc="23">
                <a:solidFill>
                  <a:srgbClr val="6B6B66"/>
                </a:solidFill>
                <a:latin typeface="ui-monospace"/>
              </a:rPr>
              <a:t>InfluxData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22959" y="3545494"/>
            <a:ext cx="237530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Go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59904" y="3545494"/>
            <a:ext cx="1115014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no vendor figure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91163" y="3545494"/>
            <a:ext cx="693408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InfluxData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92131" y="3589690"/>
            <a:ext cx="1069044" cy="18821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570" b="0" i="0" u="none" spc="23">
                <a:solidFill>
                  <a:srgbClr val="6B6B66"/>
                </a:solidFill>
                <a:latin typeface="ui-monospace"/>
              </a:rPr>
              <a:t>A DIFFERENT JOB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22959" y="3803703"/>
            <a:ext cx="5728252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A metrics agent, and a good one. ALICE O2 already runs Telegraf to gather machine and service metrics.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22959" y="3924894"/>
            <a:ext cx="5956012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It emits measurements in line protocol: a name, tags, numbers, a clock. That shape is a metric, not a log line.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91700" y="4277406"/>
            <a:ext cx="206097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>
                <a:solidFill>
                  <a:srgbClr val="6B6B66"/>
                </a:solidFill>
                <a:latin typeface="ui-monospace"/>
              </a:rPr>
              <a:t>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99451" y="4277406"/>
            <a:ext cx="2311360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 spc="119">
                <a:solidFill>
                  <a:srgbClr val="101010"/>
                </a:solidFill>
                <a:latin typeface="ui-monospace"/>
              </a:rPr>
              <a:t>WHY NOT A MESSAGE QUEUE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30201" y="4982437"/>
            <a:ext cx="3287500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A broker moves records. It does not make them.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3595" y="4686645"/>
            <a:ext cx="2793564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Neither can tail a file, parse a line or stamp a clock.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3595" y="4877085"/>
            <a:ext cx="2298341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A forwarder still runs in front of the queue.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3595" y="5067522"/>
            <a:ext cx="3221277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The queue itself costs three more machines and a quorum.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91664" y="5739884"/>
            <a:ext cx="10453039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0" i="0" u="none">
                <a:solidFill>
                  <a:srgbClr val="6B6B66"/>
                </a:solidFill>
                <a:latin typeface="Helvetica Neue"/>
              </a:rPr>
              <a:t>* CNCF is the Cloud Native Computing Foundation, the Linux Foundation body that also holds Kubernetes and Prometheus. Graduated is its highest maturity level. The 450 KB is the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91664" y="5854184"/>
            <a:ext cx="6822692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0" i="0" u="none">
                <a:solidFill>
                  <a:srgbClr val="6B6B66"/>
                </a:solidFill>
                <a:latin typeface="Helvetica Neue"/>
              </a:rPr>
              <a:t>vendor’s figure for an idle pipeline; ours peaked between 133 and 228 MB under load, measured on the collector slide.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9600" y="6368272"/>
            <a:ext cx="2119926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u="none" spc="70">
                <a:solidFill>
                  <a:srgbClr val="6B6B66"/>
                </a:solidFill>
                <a:latin typeface="ui-monospace"/>
              </a:rPr>
              <a:t>ALICE COLLABORATION BOARD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42702" y="6368272"/>
            <a:ext cx="593592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u="none" spc="70">
                <a:solidFill>
                  <a:srgbClr val="6B6B66"/>
                </a:solidFill>
                <a:latin typeface="ui-monospace"/>
              </a:rP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3532" y="527661"/>
            <a:ext cx="4493972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u="none" spc="70">
                <a:solidFill>
                  <a:srgbClr val="6B6B66"/>
                </a:solidFill>
                <a:latin typeface="ui-monospace"/>
              </a:rPr>
              <a:t>MODERN LOGGING PLATFORM WITH MACHINE LEARNING FOR HPC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66584"/>
            <a:ext cx="1045256" cy="8976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110" b="1" i="0" u="none" spc="-100">
                <a:solidFill>
                  <a:srgbClr val="101010"/>
                </a:solidFill>
                <a:latin typeface="Helvetica Neue"/>
              </a:rPr>
              <a:t>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61634"/>
            <a:ext cx="2971014" cy="8976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110" b="1" i="0" u="none" spc="-100">
                <a:solidFill>
                  <a:srgbClr val="101010"/>
                </a:solidFill>
                <a:latin typeface="Helvetica Neue"/>
              </a:rPr>
              <a:t>OpenSearch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016633"/>
            <a:ext cx="3543872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 u="none">
                <a:solidFill>
                  <a:srgbClr val="6B6B66"/>
                </a:solidFill>
                <a:latin typeface="Helvetica Neue"/>
              </a:rPr>
              <a:t>We need a search engine that indexes every field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197132"/>
            <a:ext cx="3409498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 u="none">
                <a:solidFill>
                  <a:srgbClr val="6B6B66"/>
                </a:solidFill>
                <a:latin typeface="Helvetica Neue"/>
              </a:rPr>
              <a:t>and the message body, counts them over time,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377630"/>
            <a:ext cx="3053792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 u="none">
                <a:solidFill>
                  <a:srgbClr val="6B6B66"/>
                </a:solidFill>
                <a:latin typeface="Helvetica Neue"/>
              </a:rPr>
              <a:t>and brings anomaly detection with it. Four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558129"/>
            <a:ext cx="3197810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 u="none">
                <a:solidFill>
                  <a:srgbClr val="6B6B66"/>
                </a:solidFill>
                <a:latin typeface="Helvetica Neue"/>
              </a:rPr>
              <a:t>candidates were weighed. Only one does 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738628"/>
            <a:ext cx="412284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 u="none">
                <a:solidFill>
                  <a:srgbClr val="6B6B66"/>
                </a:solidFill>
                <a:latin typeface="Helvetica Neue"/>
              </a:rPr>
              <a:t>three.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311390"/>
            <a:ext cx="1875770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30" b="0" i="0" u="none" spc="50">
                <a:solidFill>
                  <a:srgbClr val="E1251B"/>
                </a:solidFill>
                <a:latin typeface="ui-monospace"/>
              </a:rPr>
              <a:t>4 CANDIDATES WEIGHED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489627"/>
            <a:ext cx="2719786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30" b="0" i="0" u="none" spc="50">
                <a:solidFill>
                  <a:srgbClr val="E1251B"/>
                </a:solidFill>
                <a:latin typeface="ui-monospace"/>
              </a:rPr>
              <a:t>AN OPEN LICENCE WAS THE FLOOR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3667863"/>
            <a:ext cx="1875770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30" b="0" i="0" u="none" spc="50">
                <a:solidFill>
                  <a:srgbClr val="E1251B"/>
                </a:solidFill>
                <a:latin typeface="ui-monospace"/>
              </a:rPr>
              <a:t>DETECTION DECIDED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1720" y="875412"/>
            <a:ext cx="217289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>
                <a:solidFill>
                  <a:srgbClr val="6B6B66"/>
                </a:solidFill>
                <a:latin typeface="ui-monospace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19738" y="875412"/>
            <a:ext cx="1544336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 spc="119">
                <a:solidFill>
                  <a:srgbClr val="101010"/>
                </a:solidFill>
                <a:latin typeface="ui-monospace"/>
              </a:rPr>
              <a:t>THE CANDIDATES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63854" y="1268040"/>
            <a:ext cx="1720501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 i="0" u="none" spc="23">
                <a:solidFill>
                  <a:srgbClr val="6B6B66"/>
                </a:solidFill>
                <a:latin typeface="ui-monospace"/>
              </a:rPr>
              <a:t>LICENCE AND GOVERNANCE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26003" y="1268040"/>
            <a:ext cx="1407712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 i="0" u="none" spc="23">
                <a:solidFill>
                  <a:srgbClr val="6B6B66"/>
                </a:solidFill>
                <a:latin typeface="ui-monospace"/>
              </a:rPr>
              <a:t>WHAT IT CAN ANSWER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4144" y="1268040"/>
            <a:ext cx="1798778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 i="0" u="none" spc="23">
                <a:solidFill>
                  <a:srgbClr val="6B6B66"/>
                </a:solidFill>
                <a:latin typeface="ui-monospace"/>
              </a:rPr>
              <a:t>WHAT IT COSTS US TO 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63854" y="1679883"/>
            <a:ext cx="2211223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Apache 2.0, Linux Foundation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26003" y="1679883"/>
            <a:ext cx="2105460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Every field and the message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4144" y="1679883"/>
            <a:ext cx="1786563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Detection included, free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27670" y="1687503"/>
            <a:ext cx="740664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720" b="1" i="0" u="none" spc="144">
                <a:solidFill>
                  <a:srgbClr val="E1251B"/>
                </a:solidFill>
                <a:latin typeface="ui-monospace"/>
              </a:rPr>
              <a:t>CHOSEN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63854" y="1979049"/>
            <a:ext cx="7128731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E1251B"/>
                </a:solidFill>
                <a:latin typeface="Helvetica Neue"/>
              </a:rPr>
              <a:t>The only candidate that is fully open, indexes the message body, and brings anomaly detection and alerting in the box.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63854" y="2112061"/>
            <a:ext cx="6748755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E1251B"/>
                </a:solidFill>
                <a:latin typeface="Helvetica Neue"/>
              </a:rPr>
              <a:t>The detection slides that follow run on it. CERN IT’s own monitoring service runs it too, so this is not a novel bet.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63854" y="2553951"/>
            <a:ext cx="2191453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Three licences, one company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26003" y="2553951"/>
            <a:ext cx="2105460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Every field and the message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4144" y="2553951"/>
            <a:ext cx="1682407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Detection is a paid tier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63854" y="2834119"/>
            <a:ext cx="6687194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Anomaly detection and alerting sit in Elastic’s paid tiers, so the detection half of this deck becomes a purchase.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63854" y="3181001"/>
            <a:ext cx="1931224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Apache 2.0, one company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26003" y="3181001"/>
            <a:ext cx="2105460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Every field and the message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74144" y="3181001"/>
            <a:ext cx="1670673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We build the detection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63854" y="3461169"/>
            <a:ext cx="6666941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It wins on disk and loses on machinery. Choosing it means we run 17 detectors and 28 alerting rules ourselves.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3793" y="3808051"/>
            <a:ext cx="328493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Loki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63854" y="3808051"/>
            <a:ext cx="1697355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AGPLv3, one company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26003" y="3808051"/>
            <a:ext cx="2172004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Labels only, not the message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74144" y="3808051"/>
            <a:ext cx="1529227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No detection to host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63854" y="4088219"/>
            <a:ext cx="6834105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It indexes labels, not the text, so counting errors per host is a scan. Its guidance forbids 211 hostnames as labels.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1720" y="4476201"/>
            <a:ext cx="217289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>
                <a:solidFill>
                  <a:srgbClr val="6B6B66"/>
                </a:solidFill>
                <a:latin typeface="ui-monospace"/>
              </a:rPr>
              <a:t>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19738" y="4476201"/>
            <a:ext cx="4081367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 spc="119">
                <a:solidFill>
                  <a:srgbClr val="101010"/>
                </a:solidFill>
                <a:latin typeface="ui-monospace"/>
              </a:rPr>
              <a:t>WHAT WE GET THAT WE DO NOT HAVE TODAY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42764" y="4986148"/>
            <a:ext cx="1133981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Search the text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42764" y="5209308"/>
            <a:ext cx="1858089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6B6B66"/>
                </a:solidFill>
                <a:latin typeface="Helvetica Neue"/>
              </a:rPr>
              <a:t>any word, over a bunch of logs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88968" y="4986148"/>
            <a:ext cx="1704587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Filter any mapped field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88968" y="5209308"/>
            <a:ext cx="1666332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6B6B66"/>
                </a:solidFill>
                <a:latin typeface="Helvetica Neue"/>
              </a:rPr>
              <a:t>host, detector, run, partition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35173" y="4986148"/>
            <a:ext cx="1198918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Count over 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35173" y="5209308"/>
            <a:ext cx="1601397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6B6B66"/>
                </a:solidFill>
                <a:latin typeface="Helvetica Neue"/>
              </a:rPr>
              <a:t>errors per host, per minute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42764" y="5651202"/>
            <a:ext cx="1200204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Detect and alert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2764" y="5874361"/>
            <a:ext cx="1778687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6B6B66"/>
                </a:solidFill>
                <a:latin typeface="Helvetica Neue"/>
              </a:rPr>
              <a:t>included, and already running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88968" y="5651202"/>
            <a:ext cx="1686263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Replicate every record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88968" y="5874361"/>
            <a:ext cx="2130372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6B6B66"/>
                </a:solidFill>
                <a:latin typeface="Helvetica Neue"/>
              </a:rPr>
              <a:t>three copies, so a machine may die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35173" y="5651202"/>
            <a:ext cx="1169343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Shard the index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35173" y="5874361"/>
            <a:ext cx="2132302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6B6B66"/>
                </a:solidFill>
                <a:latin typeface="Helvetica Neue"/>
              </a:rPr>
              <a:t>writes spread, so throughput grows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9600" y="6574607"/>
            <a:ext cx="2119926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u="none" spc="70">
                <a:solidFill>
                  <a:srgbClr val="6B6B66"/>
                </a:solidFill>
                <a:latin typeface="ui-monospace"/>
              </a:rPr>
              <a:t>ALICE COLLABORATION BOARD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42702" y="6574607"/>
            <a:ext cx="593592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u="none" spc="70">
                <a:solidFill>
                  <a:srgbClr val="6B6B66"/>
                </a:solidFill>
                <a:latin typeface="ui-monospace"/>
              </a:rP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3532" y="527661"/>
            <a:ext cx="4493972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u="none" spc="70">
                <a:solidFill>
                  <a:srgbClr val="6B6B66"/>
                </a:solidFill>
                <a:latin typeface="ui-monospace"/>
              </a:rPr>
              <a:t>MODERN LOGGING PLATFORM WITH MACHINE LEARNING FOR HPC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66584"/>
            <a:ext cx="2317147" cy="8976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110" b="1" i="0" u="none" spc="-100">
                <a:solidFill>
                  <a:srgbClr val="101010"/>
                </a:solidFill>
                <a:latin typeface="Helvetica Neue"/>
              </a:rPr>
              <a:t>Inside the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61634"/>
            <a:ext cx="2086814" cy="8976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110" b="1" i="0" u="none" spc="-100">
                <a:solidFill>
                  <a:srgbClr val="101010"/>
                </a:solidFill>
                <a:latin typeface="Helvetica Neue"/>
              </a:rPr>
              <a:t>collector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016633"/>
            <a:ext cx="3339417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 u="none">
                <a:solidFill>
                  <a:srgbClr val="6B6B66"/>
                </a:solidFill>
                <a:latin typeface="Helvetica Neue"/>
              </a:rPr>
              <a:t>One process on every worker. Every line 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197132"/>
            <a:ext cx="2954619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 u="none">
                <a:solidFill>
                  <a:srgbClr val="6B6B66"/>
                </a:solidFill>
                <a:latin typeface="Helvetica Neue"/>
              </a:rPr>
              <a:t>the same five steps, and the whole job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377630"/>
            <a:ext cx="2714000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 u="none">
                <a:solidFill>
                  <a:srgbClr val="6B6B66"/>
                </a:solidFill>
                <a:latin typeface="Helvetica Neue"/>
              </a:rPr>
              <a:t>decided before it leaves the machine.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704" y="2738321"/>
            <a:ext cx="1764381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 spc="119">
                <a:solidFill>
                  <a:srgbClr val="101010"/>
                </a:solidFill>
                <a:latin typeface="ui-monospace"/>
              </a:rPr>
              <a:t>MEMORY ENVELOPE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704" y="2983230"/>
            <a:ext cx="1583877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 i="0" u="none" spc="23">
                <a:solidFill>
                  <a:srgbClr val="6B6B66"/>
                </a:solidFill>
                <a:latin typeface="ui-monospace"/>
              </a:rPr>
              <a:t>64 chunks in 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45310" y="2935605"/>
            <a:ext cx="597610" cy="2895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128 MB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704" y="3226296"/>
            <a:ext cx="1750558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 i="0" u="none" spc="23">
                <a:solidFill>
                  <a:srgbClr val="6B6B66"/>
                </a:solidFill>
                <a:latin typeface="ui-monospace"/>
              </a:rPr>
              <a:t>Documented worst 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5310" y="3178671"/>
            <a:ext cx="597610" cy="2895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307 MB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704" y="3469362"/>
            <a:ext cx="1750558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 i="0" u="none" spc="23">
                <a:solidFill>
                  <a:srgbClr val="6B6B66"/>
                </a:solidFill>
                <a:latin typeface="ui-monospace"/>
              </a:rPr>
              <a:t>Measured, steady 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1729" y="3421737"/>
            <a:ext cx="961192" cy="2895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133–228 MB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704" y="3712428"/>
            <a:ext cx="1750558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 i="0" u="none" spc="23">
                <a:solidFill>
                  <a:srgbClr val="6B6B66"/>
                </a:solidFill>
                <a:latin typeface="ui-monospace"/>
              </a:rPr>
              <a:t>Measured, sink outage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5310" y="3664803"/>
            <a:ext cx="597610" cy="2895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750" b="1" i="0" u="none" spc="-8">
                <a:solidFill>
                  <a:srgbClr val="E1251B"/>
                </a:solidFill>
                <a:latin typeface="Helvetica Neue"/>
              </a:rPr>
              <a:t>404 MB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7772" y="954519"/>
            <a:ext cx="2346078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 i="0" u="none" spc="23">
                <a:solidFill>
                  <a:srgbClr val="6B6B66"/>
                </a:solidFill>
                <a:latin typeface="ui-monospace"/>
              </a:rPr>
              <a:t>one process on every worker VM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33089" y="943470"/>
            <a:ext cx="1649295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630" b="0" i="0" u="none">
                <a:solidFill>
                  <a:srgbClr val="3A3A36"/>
                </a:solidFill>
                <a:latin typeface="Helvetica Neue"/>
              </a:rPr>
              <a:t>4 inputs · 4 tags · 5 outputs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1679" y="1416964"/>
            <a:ext cx="217289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>
                <a:solidFill>
                  <a:srgbClr val="6B6B66"/>
                </a:solidFill>
                <a:latin typeface="ui-monospace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19700" y="1416964"/>
            <a:ext cx="2426768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 spc="119">
                <a:solidFill>
                  <a:srgbClr val="101010"/>
                </a:solidFill>
                <a:latin typeface="ui-monospace"/>
              </a:rPr>
              <a:t>WHAT IT DOES TO A 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18923" y="1987017"/>
            <a:ext cx="551640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0" i="0" u="none" spc="119">
                <a:solidFill>
                  <a:srgbClr val="101010"/>
                </a:solidFill>
                <a:latin typeface="ui-monospace"/>
              </a:rPr>
              <a:t>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85939" y="2317997"/>
            <a:ext cx="1017609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 u="none">
                <a:solidFill>
                  <a:srgbClr val="6B6B66"/>
                </a:solidFill>
                <a:latin typeface="Helvetica Neue"/>
              </a:rPr>
              <a:t>Read each 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31668" y="2644121"/>
            <a:ext cx="926151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6B6B66"/>
                </a:solidFill>
                <a:latin typeface="ui-monospace"/>
              </a:rPr>
              <a:t>from a file,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00210" y="2777137"/>
            <a:ext cx="1389066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6B6B66"/>
                </a:solidFill>
                <a:latin typeface="ui-monospace"/>
              </a:rPr>
              <a:t>a socket, a script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22593" y="1987017"/>
            <a:ext cx="336590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0" i="0" u="none" spc="119">
                <a:solidFill>
                  <a:srgbClr val="101010"/>
                </a:solidFill>
                <a:latin typeface="ui-monospace"/>
              </a:rPr>
              <a:t>TAG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97674" y="2317997"/>
            <a:ext cx="986427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 u="none">
                <a:solidFill>
                  <a:srgbClr val="6B6B66"/>
                </a:solidFill>
                <a:latin typeface="Helvetica Neue"/>
              </a:rPr>
              <a:t>Give it a name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27812" y="2644121"/>
            <a:ext cx="926151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6B6B66"/>
                </a:solidFill>
                <a:latin typeface="ui-monospace"/>
              </a:rPr>
              <a:t>dds, stdout,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6355" y="2777137"/>
            <a:ext cx="1389066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6B6B66"/>
                </a:solidFill>
                <a:latin typeface="ui-monospace"/>
              </a:rPr>
              <a:t>infologger, health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56080" y="1987017"/>
            <a:ext cx="661904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0" i="0" u="none" spc="119">
                <a:solidFill>
                  <a:srgbClr val="101010"/>
                </a:solidFill>
                <a:latin typeface="ui-monospace"/>
              </a:rPr>
              <a:t>FILTER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02602" y="2317997"/>
            <a:ext cx="1168860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 u="none">
                <a:solidFill>
                  <a:srgbClr val="6B6B66"/>
                </a:solidFill>
                <a:latin typeface="Helvetica Neue"/>
              </a:rPr>
              <a:t>Parse and stamp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53923" y="2644121"/>
            <a:ext cx="1466219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6B6B66"/>
                </a:solidFill>
                <a:latin typeface="ui-monospace"/>
              </a:rPr>
              <a:t>fields out of text,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85380" y="2777137"/>
            <a:ext cx="1003304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6B6B66"/>
                </a:solidFill>
                <a:latin typeface="ui-monospace"/>
              </a:rPr>
              <a:t>and the clock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7356" y="1987017"/>
            <a:ext cx="551640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0" i="0" u="none" spc="119">
                <a:solidFill>
                  <a:srgbClr val="E1251B"/>
                </a:solidFill>
                <a:latin typeface="ui-monospace"/>
              </a:rPr>
              <a:t>RETAG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47369" y="2317997"/>
            <a:ext cx="1071616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 u="none">
                <a:solidFill>
                  <a:srgbClr val="E1251B"/>
                </a:solidFill>
                <a:latin typeface="Helvetica Neue"/>
              </a:rPr>
              <a:t>Sort by severity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0215" y="2644121"/>
            <a:ext cx="385923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E1251B"/>
                </a:solidFill>
                <a:latin typeface="ui-monospace"/>
              </a:rPr>
              <a:t>info,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88643" y="2777137"/>
            <a:ext cx="1389066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E1251B"/>
                </a:solidFill>
                <a:latin typeface="ui-monospace"/>
              </a:rPr>
              <a:t>or everything else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48369" y="1987017"/>
            <a:ext cx="661904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0" i="0" u="none" spc="119">
                <a:solidFill>
                  <a:srgbClr val="101010"/>
                </a:solidFill>
                <a:latin typeface="ui-monospace"/>
              </a:rPr>
              <a:t>OUTPUT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28599" y="2317997"/>
            <a:ext cx="701445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 u="none">
                <a:solidFill>
                  <a:srgbClr val="6B6B66"/>
                </a:solidFill>
                <a:latin typeface="Helvetica Neue"/>
              </a:rPr>
              <a:t>Send it 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23363" y="2644121"/>
            <a:ext cx="1311915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6B6B66"/>
                </a:solidFill>
                <a:latin typeface="ui-monospace"/>
              </a:rPr>
              <a:t>to the OpenSearch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00517" y="2777137"/>
            <a:ext cx="1157608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6B6B66"/>
                </a:solidFill>
                <a:latin typeface="ui-monospace"/>
              </a:rPr>
              <a:t>node on this VM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91679" y="3621165"/>
            <a:ext cx="217289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>
                <a:solidFill>
                  <a:srgbClr val="E1251B"/>
                </a:solidFill>
                <a:latin typeface="ui-monospace"/>
              </a:rPr>
              <a:t>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19700" y="3621165"/>
            <a:ext cx="3309199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 spc="119">
                <a:solidFill>
                  <a:srgbClr val="E1251B"/>
                </a:solidFill>
                <a:latin typeface="ui-monospace"/>
              </a:rPr>
              <a:t>WHAT THE DISK BUFFER REALLY 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91813" y="4352610"/>
            <a:ext cx="1099905" cy="30403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40" b="1" i="0" u="none" spc="-8">
                <a:solidFill>
                  <a:srgbClr val="101010"/>
                </a:solidFill>
                <a:latin typeface="Helvetica Neue"/>
              </a:rPr>
              <a:t>The collector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71721" y="4636207"/>
            <a:ext cx="1140089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 u="none">
                <a:solidFill>
                  <a:srgbClr val="6B6B66"/>
                </a:solidFill>
                <a:latin typeface="Helvetica Neue"/>
              </a:rPr>
              <a:t>still reading lines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94089" y="4352610"/>
            <a:ext cx="1284750" cy="30403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40" b="1" i="0" u="none" spc="-8">
                <a:solidFill>
                  <a:srgbClr val="E1251B"/>
                </a:solidFill>
                <a:latin typeface="Helvetica Neue"/>
              </a:rPr>
              <a:t>256 MB on disk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59004" y="4636207"/>
            <a:ext cx="2354919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 u="none">
                <a:solidFill>
                  <a:srgbClr val="6B6B66"/>
                </a:solidFill>
                <a:latin typeface="Helvetica Neue"/>
              </a:rPr>
              <a:t>one buffer for each lane, 10 retries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24394" y="4352610"/>
            <a:ext cx="1039630" cy="30403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40" b="1" i="0" u="none" spc="-8">
                <a:solidFill>
                  <a:srgbClr val="101010"/>
                </a:solidFill>
                <a:latin typeface="Helvetica Neue"/>
              </a:rPr>
              <a:t>OpenSearch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59676" y="4636207"/>
            <a:ext cx="969068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 u="none">
                <a:solidFill>
                  <a:srgbClr val="6B6B66"/>
                </a:solidFill>
                <a:latin typeface="Helvetica Neue"/>
              </a:rPr>
              <a:t>not answering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59647" y="5242713"/>
            <a:ext cx="2353633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50" b="0" i="0" u="none" spc="-4">
                <a:solidFill>
                  <a:srgbClr val="E1251B"/>
                </a:solidFill>
                <a:latin typeface="Helvetica Neue"/>
              </a:rPr>
              <a:t>holds 50 seconds to 109 minutes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89132" y="5190355"/>
            <a:ext cx="1718572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After that the record is gone.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89132" y="5323366"/>
            <a:ext cx="1883323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There is no second destination.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81696" y="5689253"/>
            <a:ext cx="2639741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E1251B"/>
                </a:solidFill>
                <a:latin typeface="Helvetica Neue"/>
              </a:rPr>
              <a:t>A hiccup safety layer, not durability.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81696" y="5931418"/>
            <a:ext cx="6439823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Every input writes to this local disk buffer first. It survives a restart of Fluent Bit and a short network outage.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81696" y="6083435"/>
            <a:ext cx="7862162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E1251B"/>
                </a:solidFill>
                <a:latin typeface="Helvetica Neue"/>
              </a:rPr>
              <a:t>It does not survive losing the node, and those records are gone. Real durability is a replicated queue, and Kafka is on the roadmap.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9600" y="6783681"/>
            <a:ext cx="2119926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u="none" spc="70">
                <a:solidFill>
                  <a:srgbClr val="6B6B66"/>
                </a:solidFill>
                <a:latin typeface="ui-monospace"/>
              </a:rPr>
              <a:t>ALICE COLLABORATION BOARD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42702" y="6783681"/>
            <a:ext cx="593592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u="none" spc="70">
                <a:solidFill>
                  <a:srgbClr val="6B6B66"/>
                </a:solidFill>
                <a:latin typeface="ui-monospace"/>
              </a:rP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3532" y="527661"/>
            <a:ext cx="4493972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u="none" spc="70">
                <a:solidFill>
                  <a:srgbClr val="6B6B66"/>
                </a:solidFill>
                <a:latin typeface="ui-monospace"/>
              </a:rPr>
              <a:t>MODERN LOGGING PLATFORM WITH MACHINE LEARNING FOR HPC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66584"/>
            <a:ext cx="2929866" cy="8976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110" b="1" i="0" u="none" spc="-100">
                <a:solidFill>
                  <a:srgbClr val="101010"/>
                </a:solidFill>
                <a:latin typeface="Helvetica Neue"/>
              </a:rPr>
              <a:t>How we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61634"/>
            <a:ext cx="2971014" cy="8976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110" b="1" i="0" u="none" spc="-100">
                <a:solidFill>
                  <a:srgbClr val="101010"/>
                </a:solidFill>
                <a:latin typeface="Helvetica Neue"/>
              </a:rPr>
              <a:t>OpenSearch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016633"/>
            <a:ext cx="3216456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 u="none">
                <a:solidFill>
                  <a:srgbClr val="6B6B66"/>
                </a:solidFill>
                <a:latin typeface="Helvetica Neue"/>
              </a:rPr>
              <a:t>One cluster, split in two. The bulk of the logs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197132"/>
            <a:ext cx="3391013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 u="none">
                <a:solidFill>
                  <a:srgbClr val="6B6B66"/>
                </a:solidFill>
                <a:latin typeface="Helvetica Neue"/>
              </a:rPr>
              <a:t>never leaves the machine that wrote them. The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377630"/>
            <a:ext cx="2548604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 u="none">
                <a:solidFill>
                  <a:srgbClr val="6B6B66"/>
                </a:solidFill>
                <a:latin typeface="Helvetica Neue"/>
              </a:rPr>
              <a:t>rest is copied onto three machines.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950393"/>
            <a:ext cx="2438340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30" b="0" i="0" u="none" spc="50">
                <a:solidFill>
                  <a:srgbClr val="E1251B"/>
                </a:solidFill>
                <a:latin typeface="ui-monospace"/>
              </a:rPr>
              <a:t>ONE CLUSTER, FIVE MACHINES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128629"/>
            <a:ext cx="3094780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30" b="0" i="0" u="none" spc="50">
                <a:solidFill>
                  <a:srgbClr val="E1251B"/>
                </a:solidFill>
                <a:latin typeface="ui-monospace"/>
              </a:rPr>
              <a:t>THREE COPIES OF THE VALUABLE HALF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306866"/>
            <a:ext cx="2719786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30" b="0" i="0" u="none" spc="50">
                <a:solidFill>
                  <a:srgbClr val="E1251B"/>
                </a:solidFill>
                <a:latin typeface="ui-monospace"/>
              </a:rPr>
              <a:t>ZERO COPIES OF THE CHEAP HALF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2826" y="964018"/>
            <a:ext cx="2971817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 i="0" u="none" spc="23">
                <a:solidFill>
                  <a:srgbClr val="6B6B66"/>
                </a:solidFill>
                <a:latin typeface="ui-monospace"/>
              </a:rPr>
              <a:t>one cluster, five machines, two halves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94572" y="952969"/>
            <a:ext cx="4287750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630" b="0" i="0" u="none">
                <a:solidFill>
                  <a:srgbClr val="3A3A36"/>
                </a:solidFill>
                <a:latin typeface="Helvetica Neue"/>
              </a:rPr>
              <a:t>All five machines hold data. The three storage machines run the cluster.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1743" y="1331448"/>
            <a:ext cx="217289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>
                <a:solidFill>
                  <a:srgbClr val="6B6B66"/>
                </a:solidFill>
                <a:latin typeface="ui-monospace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19760" y="1331448"/>
            <a:ext cx="3529888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 spc="119">
                <a:solidFill>
                  <a:srgbClr val="101010"/>
                </a:solidFill>
                <a:latin typeface="ui-monospace"/>
              </a:rPr>
              <a:t>THE SPLIT, AND WHY IT IS A SPLIT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24753" y="1733571"/>
            <a:ext cx="1720501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 i="0" u="none" spc="23">
                <a:solidFill>
                  <a:srgbClr val="6B6B66"/>
                </a:solidFill>
                <a:latin typeface="ui-monospace"/>
              </a:rPr>
              <a:t>LOCAL — ON THE MACHINE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7576" y="2069407"/>
            <a:ext cx="1223510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Worker machine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35154" y="2283068"/>
            <a:ext cx="1688354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0" b="0" i="0" u="none">
                <a:solidFill>
                  <a:srgbClr val="6B6B66"/>
                </a:solidFill>
                <a:latin typeface="Helvetica Neue"/>
              </a:rPr>
              <a:t>its own info index, one copy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7576" y="2819963"/>
            <a:ext cx="1223510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Worker machine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35154" y="3033623"/>
            <a:ext cx="1688354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0" b="0" i="0" u="none">
                <a:solidFill>
                  <a:srgbClr val="6B6B66"/>
                </a:solidFill>
                <a:latin typeface="Helvetica Neue"/>
              </a:rPr>
              <a:t>its own info index, one copy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24753" y="3508649"/>
            <a:ext cx="1793474" cy="21718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E1251B"/>
                </a:solidFill>
                <a:latin typeface="Helvetica Neue"/>
              </a:rPr>
              <a:t>Routine info logs are the bulk.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24753" y="3641668"/>
            <a:ext cx="1573750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E1251B"/>
                </a:solidFill>
                <a:latin typeface="Helvetica Neue"/>
              </a:rPr>
              <a:t>They never cross the wire.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23555" y="2420932"/>
            <a:ext cx="1616827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Everything above info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3176" y="2625090"/>
            <a:ext cx="977586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0" b="0" i="0" u="none">
                <a:solidFill>
                  <a:srgbClr val="6B6B66"/>
                </a:solidFill>
                <a:latin typeface="Helvetica Neue"/>
              </a:rPr>
              <a:t>crosses the wire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5392" y="2796101"/>
            <a:ext cx="1093154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0" b="0" i="0" u="none">
                <a:solidFill>
                  <a:srgbClr val="6B6B66"/>
                </a:solidFill>
                <a:latin typeface="Helvetica Neue"/>
              </a:rPr>
              <a:t>+ all of InfoLogger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5035" y="1733571"/>
            <a:ext cx="2111568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 i="0" u="none" spc="23">
                <a:solidFill>
                  <a:srgbClr val="6B6B66"/>
                </a:solidFill>
                <a:latin typeface="ui-monospace"/>
              </a:rPr>
              <a:t>REPLICATED — THREE MACHINES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76124" y="2069407"/>
            <a:ext cx="1275909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Storage machine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49219" y="2069407"/>
            <a:ext cx="1275908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Storage machine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22314" y="2069407"/>
            <a:ext cx="1275909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Storage machine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57959" y="2891113"/>
            <a:ext cx="3858430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6B6B66"/>
                </a:solidFill>
                <a:latin typeface="ui-monospace"/>
              </a:rPr>
              <a:t>each machine writes one slice and holds two copies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39043" y="3142987"/>
            <a:ext cx="2336596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These machines are ours alone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39043" y="3290143"/>
            <a:ext cx="3464469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No reconstruction here, so we can afford expensive work.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39043" y="3523012"/>
            <a:ext cx="669941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Sharding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39043" y="3670169"/>
            <a:ext cx="2075402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Split three ways, more throughput.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9184" y="3523012"/>
            <a:ext cx="845464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Replication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9184" y="3670169"/>
            <a:ext cx="2002750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Copied twice, a machine can die.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43157" y="4219539"/>
            <a:ext cx="4287750" cy="30403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40" b="1" i="0" u="none" spc="-8">
                <a:solidFill>
                  <a:srgbClr val="E1251B"/>
                </a:solidFill>
                <a:latin typeface="Helvetica Neue"/>
              </a:rPr>
              <a:t>One storage machine may die and we lose nothing.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3492" y="4449224"/>
            <a:ext cx="5507081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0" b="0" i="0" u="none">
                <a:solidFill>
                  <a:srgbClr val="6B6B66"/>
                </a:solidFill>
                <a:latin typeface="Helvetica Neue"/>
              </a:rPr>
              <a:t>Every record is on all three. The cluster needs two of the three to agree, so it keeps running.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20233" y="4753250"/>
            <a:ext cx="6933599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0" b="0" i="0" u="none">
                <a:solidFill>
                  <a:srgbClr val="3A3A36"/>
                </a:solidFill>
                <a:latin typeface="Helvetica Neue"/>
              </a:rPr>
              <a:t>The local half is one copy on purpose. If a worker dies you lose that machine’s routine logs, which is the cheap half.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91743" y="5065225"/>
            <a:ext cx="217289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>
                <a:solidFill>
                  <a:srgbClr val="6B6B66"/>
                </a:solidFill>
                <a:latin typeface="ui-monospace"/>
              </a:rPr>
              <a:t>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19760" y="5065225"/>
            <a:ext cx="2316504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 spc="119">
                <a:solidFill>
                  <a:srgbClr val="101010"/>
                </a:solidFill>
                <a:latin typeface="ui-monospace"/>
              </a:rPr>
              <a:t>THREE THINGS TO WATCH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90773" y="5432655"/>
            <a:ext cx="744200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JVM heap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24753" y="5712820"/>
            <a:ext cx="2816226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The memory the Java process may hold. Every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24753" y="5845827"/>
            <a:ext cx="2735860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index costs heap, so we cap how many exist.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22468" y="5432655"/>
            <a:ext cx="1910007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Memory outside the heap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56448" y="5712820"/>
            <a:ext cx="3269819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The search index and the file cache use it. We lock the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56448" y="5845827"/>
            <a:ext cx="2556480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memory down, so a node can never swap.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54163" y="5432655"/>
            <a:ext cx="2412462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ISM — Index State Management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88144" y="5712820"/>
            <a:ext cx="2646331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Indices roll on a clock, old ones are deleted.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88144" y="5845827"/>
            <a:ext cx="2781187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Routine logs 8 days, others 35, InfoLogger 56.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9600" y="6422565"/>
            <a:ext cx="2119926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u="none" spc="70">
                <a:solidFill>
                  <a:srgbClr val="6B6B66"/>
                </a:solidFill>
                <a:latin typeface="ui-monospace"/>
              </a:rPr>
              <a:t>ALICE COLLABORATION BOARD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42702" y="6422565"/>
            <a:ext cx="593592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u="none" spc="70">
                <a:solidFill>
                  <a:srgbClr val="6B6B66"/>
                </a:solidFill>
                <a:latin typeface="ui-monospace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3532" y="527661"/>
            <a:ext cx="4493972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u="none" spc="70">
                <a:solidFill>
                  <a:srgbClr val="6B6B66"/>
                </a:solidFill>
                <a:latin typeface="ui-monospace"/>
              </a:rPr>
              <a:t>MODERN LOGGING PLATFORM WITH MACHINE LEARNING FOR HPC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66584"/>
            <a:ext cx="2889843" cy="8976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110" b="1" i="0" u="none" spc="-100">
                <a:solidFill>
                  <a:srgbClr val="101010"/>
                </a:solidFill>
                <a:latin typeface="Helvetica Neue"/>
              </a:rPr>
              <a:t>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61634"/>
            <a:ext cx="2894183" cy="8976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110" b="1" i="0" u="none" spc="-100">
                <a:solidFill>
                  <a:srgbClr val="101010"/>
                </a:solidFill>
                <a:latin typeface="Helvetica Neue"/>
              </a:rPr>
              <a:t>with Ansible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016633"/>
            <a:ext cx="3363528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 u="none">
                <a:solidFill>
                  <a:srgbClr val="6B6B66"/>
                </a:solidFill>
                <a:latin typeface="Helvetica Neue"/>
              </a:rPr>
              <a:t>Ansible won because it leaves nothing running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197132"/>
            <a:ext cx="3496133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 u="none">
                <a:solidFill>
                  <a:srgbClr val="6B6B66"/>
                </a:solidFill>
                <a:latin typeface="Helvetica Neue"/>
              </a:rPr>
              <a:t>on the five machines. It acts only when a person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377630"/>
            <a:ext cx="2852231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 u="none">
                <a:solidFill>
                  <a:srgbClr val="6B6B66"/>
                </a:solidFill>
                <a:latin typeface="Helvetica Neue"/>
              </a:rPr>
              <a:t>starts it. The same tool also creates the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558129"/>
            <a:ext cx="743396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 u="none">
                <a:solidFill>
                  <a:srgbClr val="6B6B66"/>
                </a:solidFill>
                <a:latin typeface="Helvetica Neue"/>
              </a:rPr>
              <a:t>machines.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130891"/>
            <a:ext cx="1406747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30" b="0" i="0" u="none" spc="50">
                <a:solidFill>
                  <a:srgbClr val="E1251B"/>
                </a:solidFill>
                <a:latin typeface="ui-monospace"/>
              </a:rPr>
              <a:t>4 TOOLS WEIGHED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309128"/>
            <a:ext cx="1875770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30" b="0" i="0" u="none" spc="50">
                <a:solidFill>
                  <a:srgbClr val="E1251B"/>
                </a:solidFill>
                <a:latin typeface="ui-monospace"/>
              </a:rPr>
              <a:t>THE AGENT DECIDED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487364"/>
            <a:ext cx="2532209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30" b="0" i="0" u="none" spc="50">
                <a:solidFill>
                  <a:srgbClr val="E1251B"/>
                </a:solidFill>
                <a:latin typeface="ui-monospace"/>
              </a:rPr>
              <a:t>PLACEMENT IS DATA, NOT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1704" y="875416"/>
            <a:ext cx="217289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>
                <a:solidFill>
                  <a:srgbClr val="6B6B66"/>
                </a:solidFill>
                <a:latin typeface="ui-monospace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19723" y="875416"/>
            <a:ext cx="1544337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 spc="119">
                <a:solidFill>
                  <a:srgbClr val="101010"/>
                </a:solidFill>
                <a:latin typeface="ui-monospace"/>
              </a:rPr>
              <a:t>THE CANDIDATES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0306" y="886465"/>
            <a:ext cx="4582055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630" b="0" i="0" u="none">
                <a:solidFill>
                  <a:srgbClr val="3A3A36"/>
                </a:solidFill>
                <a:latin typeface="Helvetica Neue"/>
              </a:rPr>
              <a:t>An agent is a program the tool installs and leaves running on every machine.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96856" y="1239543"/>
            <a:ext cx="1720501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 i="0" u="none" spc="23">
                <a:solidFill>
                  <a:srgbClr val="6B6B66"/>
                </a:solidFill>
                <a:latin typeface="ui-monospace"/>
              </a:rPr>
              <a:t>AGENT ON EVERY MACHINE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7016" y="1239543"/>
            <a:ext cx="938528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 i="0" u="none" spc="23">
                <a:solidFill>
                  <a:srgbClr val="6B6B66"/>
                </a:solidFill>
                <a:latin typeface="ui-monospace"/>
              </a:rPr>
              <a:t>WHEN IT RUNS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12153" y="1239543"/>
            <a:ext cx="1564106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 i="0" u="none" spc="23">
                <a:solidFill>
                  <a:srgbClr val="6B6B66"/>
                </a:solidFill>
                <a:latin typeface="ui-monospace"/>
              </a:rPr>
              <a:t>CREATES THE MACHINES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96856" y="1603881"/>
            <a:ext cx="1177380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None, over SSH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7016" y="1603881"/>
            <a:ext cx="1117265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When we run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12153" y="1603881"/>
            <a:ext cx="1087368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Yes, same tool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27687" y="1611501"/>
            <a:ext cx="740664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720" b="1" i="0" u="none" spc="144">
                <a:solidFill>
                  <a:srgbClr val="E1251B"/>
                </a:solidFill>
                <a:latin typeface="ui-monospace"/>
              </a:rPr>
              <a:t>CHOSEN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96856" y="1922048"/>
            <a:ext cx="6579984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E1251B"/>
                </a:solidFill>
                <a:latin typeface="Helvetica Neue"/>
              </a:rPr>
              <a:t>A push over SSH puts nothing new on a CERN host. One tool creates the five machines and configures them.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6776" y="2344940"/>
            <a:ext cx="1025325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with Foreman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96856" y="2344940"/>
            <a:ext cx="1562821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Agent and certificate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7016" y="2344940"/>
            <a:ext cx="782133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On a timer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2153" y="2344940"/>
            <a:ext cx="1373635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Yes, with Foreman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96856" y="2587109"/>
            <a:ext cx="6317505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The CERN standard, and it repairs drift by itself. It wants an agent and a signed certificate on every node.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80271" y="2924492"/>
            <a:ext cx="675887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and Chef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96856" y="2924492"/>
            <a:ext cx="1411088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Agent and a server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7016" y="2924492"/>
            <a:ext cx="1635633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On demand or a timer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2153" y="2924492"/>
            <a:ext cx="249674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No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96856" y="3166653"/>
            <a:ext cx="6599915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Salt fans out fastest, but only at farm scale. Chef needs a second language. Both put an agent on every node.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96856" y="3504036"/>
            <a:ext cx="397336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None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7016" y="3504036"/>
            <a:ext cx="1117265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When we run 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12153" y="3504036"/>
            <a:ext cx="1586929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Yes, and nothing else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96856" y="3746205"/>
            <a:ext cx="6190364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It builds machines well, and its vendor calls configuring them a separate job. That is two tools, not one.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1704" y="4257699"/>
            <a:ext cx="217289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>
                <a:solidFill>
                  <a:srgbClr val="6B6B66"/>
                </a:solidFill>
                <a:latin typeface="ui-monospace"/>
              </a:rPr>
              <a:t>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19723" y="4257699"/>
            <a:ext cx="2206240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 spc="119">
                <a:solidFill>
                  <a:srgbClr val="101010"/>
                </a:solidFill>
                <a:latin typeface="ui-monospace"/>
              </a:rPr>
              <a:t>OUR DESIGN DECISIONS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70243" y="4268748"/>
            <a:ext cx="2512118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630" b="0" i="0" u="none">
                <a:solidFill>
                  <a:srgbClr val="3A3A36"/>
                </a:solidFill>
                <a:latin typeface="Helvetica Neue"/>
              </a:rPr>
              <a:t>17 roles · 7 inventory groups · 5 machines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28741" y="4615633"/>
            <a:ext cx="1340525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Placement is data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66904" y="4648780"/>
            <a:ext cx="6427447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One inventory file says where each service runs. Moving one service to another machine changed no code.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28741" y="4853156"/>
            <a:ext cx="1608469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Every step converges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66904" y="4886303"/>
            <a:ext cx="6043612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A failed run is simply run again. Machines, monitors and detectors are created by name, never twice.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28741" y="5090670"/>
            <a:ext cx="1387298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Gates stop the run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66904" y="5123817"/>
            <a:ext cx="6278125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12 checks fail the deploy rather than report success. The last proves 28 monitors and 17 detectors exist.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28741" y="5328193"/>
            <a:ext cx="1722269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Secrets stay encrypted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66904" y="5361340"/>
            <a:ext cx="5806369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Every secret lives in one encrypted file in the repository. The cloud credential never touches disk.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91664" y="5826442"/>
            <a:ext cx="10196828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0" i="0" u="none">
                <a:solidFill>
                  <a:srgbClr val="6B6B66"/>
                </a:solidFill>
                <a:latin typeface="Helvetica Neue"/>
              </a:rPr>
              <a:t>ALICE build machines already run Puppet under the CERN Foreman setup. Puppet is likely right for the farm; it is wrong for five machines that one person deploys by hand. Shell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91664" y="5940742"/>
            <a:ext cx="5143821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0" i="0" u="none">
                <a:solidFill>
                  <a:srgbClr val="6B6B66"/>
                </a:solidFill>
                <a:latin typeface="Helvetica Neue"/>
              </a:rPr>
              <a:t>scripts were never a candidate, because a script does a thing but never checks the thing.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9600" y="6454831"/>
            <a:ext cx="2119926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u="none" spc="70">
                <a:solidFill>
                  <a:srgbClr val="6B6B66"/>
                </a:solidFill>
                <a:latin typeface="ui-monospace"/>
              </a:rPr>
              <a:t>ALICE COLLABORATION BOARD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42702" y="6454831"/>
            <a:ext cx="593592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u="none" spc="70">
                <a:solidFill>
                  <a:srgbClr val="6B6B66"/>
                </a:solidFill>
                <a:latin typeface="ui-monospace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3532" y="527661"/>
            <a:ext cx="4493972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u="none" spc="70">
                <a:solidFill>
                  <a:srgbClr val="6B6B66"/>
                </a:solidFill>
                <a:latin typeface="ui-monospace"/>
              </a:rPr>
              <a:t>MODERN LOGGING PLATFORM WITH MACHINE LEARNING FOR HPC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66584"/>
            <a:ext cx="3125641" cy="8976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110" b="1" i="0" u="none" spc="-100">
                <a:solidFill>
                  <a:srgbClr val="101010"/>
                </a:solidFill>
                <a:latin typeface="Helvetica Neue"/>
              </a:rPr>
              <a:t>The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621584"/>
            <a:ext cx="3459968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 u="none">
                <a:solidFill>
                  <a:srgbClr val="6B6B66"/>
                </a:solidFill>
                <a:latin typeface="Helvetica Neue"/>
              </a:rPr>
              <a:t>Four surfaces sit behind one address. Each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802082"/>
            <a:ext cx="3102656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 u="none">
                <a:solidFill>
                  <a:srgbClr val="6B6B66"/>
                </a:solidFill>
                <a:latin typeface="Helvetica Neue"/>
              </a:rPr>
              <a:t>answers a different question, for a different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982581"/>
            <a:ext cx="3291679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 u="none">
                <a:solidFill>
                  <a:srgbClr val="6B6B66"/>
                </a:solidFill>
                <a:latin typeface="Helvetica Neue"/>
              </a:rPr>
              <a:t>person. Three of them run today. The shifter’s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163080"/>
            <a:ext cx="1521994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 u="none">
                <a:solidFill>
                  <a:srgbClr val="6B6B66"/>
                </a:solidFill>
                <a:latin typeface="Helvetica Neue"/>
              </a:rPr>
              <a:t>own view is not built.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735842"/>
            <a:ext cx="1969478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30" b="0" i="0" u="none" spc="50">
                <a:solidFill>
                  <a:srgbClr val="E1251B"/>
                </a:solidFill>
                <a:latin typeface="ui-monospace"/>
              </a:rPr>
              <a:t>ONE DOOR, ONE ACCOUNT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914078"/>
            <a:ext cx="2250763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30" b="0" i="0" u="none" spc="50">
                <a:solidFill>
                  <a:srgbClr val="E1251B"/>
                </a:solidFill>
                <a:latin typeface="ui-monospace"/>
              </a:rPr>
              <a:t>THREE BUILT, ONE PLANNED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092315"/>
            <a:ext cx="2813494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30" b="0" i="0" u="none" spc="50">
                <a:solidFill>
                  <a:srgbClr val="E1251B"/>
                </a:solidFill>
                <a:latin typeface="ui-monospace"/>
              </a:rPr>
              <a:t>THE LIVE LANE NEEDS NO CLUSTER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1681" y="875416"/>
            <a:ext cx="217289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>
                <a:solidFill>
                  <a:srgbClr val="6B6B66"/>
                </a:solidFill>
                <a:latin typeface="ui-monospace"/>
              </a:rPr>
              <a:t>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19702" y="875416"/>
            <a:ext cx="882592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 spc="119">
                <a:solidFill>
                  <a:srgbClr val="101010"/>
                </a:solidFill>
                <a:latin typeface="ui-monospace"/>
              </a:rPr>
              <a:t>ONE DOOR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13248" y="886465"/>
            <a:ext cx="1369135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630" b="0" i="0" u="none">
                <a:solidFill>
                  <a:srgbClr val="3A3A36"/>
                </a:solidFill>
                <a:latin typeface="Helvetica Neue"/>
              </a:rPr>
              <a:t>Nobody signs in twice.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43695" y="1290359"/>
            <a:ext cx="2451199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One address, on the control host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70698" y="1323506"/>
            <a:ext cx="3359670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630" b="0" i="0" u="none">
                <a:solidFill>
                  <a:srgbClr val="6B6B66"/>
                </a:solidFill>
                <a:latin typeface="Helvetica Neue"/>
              </a:rPr>
              <a:t>Encrypted, one account, and it leads to all four surfaces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1681" y="1768496"/>
            <a:ext cx="217289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>
                <a:solidFill>
                  <a:srgbClr val="6B6B66"/>
                </a:solidFill>
                <a:latin typeface="ui-monospace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19702" y="1768496"/>
            <a:ext cx="1434072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 spc="119">
                <a:solidFill>
                  <a:srgbClr val="101010"/>
                </a:solidFill>
                <a:latin typeface="ui-monospace"/>
              </a:rPr>
              <a:t>FOUR SURFACES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05691" y="2085118"/>
            <a:ext cx="547461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 i="0" u="none" spc="23">
                <a:solidFill>
                  <a:srgbClr val="6B6B66"/>
                </a:solidFill>
                <a:latin typeface="ui-monospace"/>
              </a:rPr>
              <a:t>SURFACE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91852" y="2085118"/>
            <a:ext cx="1173040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 i="0" u="none" spc="23">
                <a:solidFill>
                  <a:srgbClr val="6B6B66"/>
                </a:solidFill>
                <a:latin typeface="ui-monospace"/>
              </a:rPr>
              <a:t>WHAT IT ANSWERS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83" y="2085118"/>
            <a:ext cx="938528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 i="0" u="none" spc="23">
                <a:solidFill>
                  <a:srgbClr val="6B6B66"/>
                </a:solidFill>
                <a:latin typeface="ui-monospace"/>
              </a:rPr>
              <a:t>WHO OPENS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28720" y="2461939"/>
            <a:ext cx="1566035" cy="30403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40" b="1" i="0" u="none" spc="-8">
                <a:solidFill>
                  <a:srgbClr val="101010"/>
                </a:solidFill>
                <a:latin typeface="Helvetica Neue"/>
              </a:rPr>
              <a:t>Maintainer cockpit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28720" y="2797684"/>
            <a:ext cx="469344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 i="0" u="none" spc="23">
                <a:solidFill>
                  <a:srgbClr val="6B6B66"/>
                </a:solidFill>
                <a:latin typeface="ui-monospace"/>
              </a:rPr>
              <a:t>IN 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91852" y="2487466"/>
            <a:ext cx="1715197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Is the pipeline healthy?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83" y="2487466"/>
            <a:ext cx="2840980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The people who maintain the 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91852" y="2786635"/>
            <a:ext cx="2613702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Charts and counters over the whole cluster.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1852" y="2919640"/>
            <a:ext cx="2025254" cy="21718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A shifter never asks this question.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8720" y="3269510"/>
            <a:ext cx="1043488" cy="30403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40" b="1" i="0" u="none" spc="-8">
                <a:solidFill>
                  <a:srgbClr val="101010"/>
                </a:solidFill>
                <a:latin typeface="Helvetica Neue"/>
              </a:rPr>
              <a:t>The live lane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28720" y="3605256"/>
            <a:ext cx="469344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 i="0" u="none" spc="23">
                <a:solidFill>
                  <a:srgbClr val="6B6B66"/>
                </a:solidFill>
                <a:latin typeface="ui-monospace"/>
              </a:rPr>
              <a:t>IN USE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91852" y="3295037"/>
            <a:ext cx="1998411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What is arriving right now?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7083" y="3295037"/>
            <a:ext cx="3432965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Anyone, and it holds when the cluster is down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91852" y="3594207"/>
            <a:ext cx="2506653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A small React page, fed by the collectors.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91852" y="3727222"/>
            <a:ext cx="3018110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It asks the cluster nothing and survives an outage.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28720" y="4077081"/>
            <a:ext cx="740343" cy="30403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40" b="1" i="0" u="none" spc="-8">
                <a:solidFill>
                  <a:srgbClr val="101010"/>
                </a:solidFill>
                <a:latin typeface="Helvetica Neue"/>
              </a:rPr>
              <a:t>Discover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28720" y="4412827"/>
            <a:ext cx="469344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 i="0" u="none" spc="23">
                <a:solidFill>
                  <a:srgbClr val="6B6B66"/>
                </a:solidFill>
                <a:latin typeface="ui-monospace"/>
              </a:rPr>
              <a:t>IN USE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91852" y="4102608"/>
            <a:ext cx="2573037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Anything in the archive, with filters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57083" y="4102608"/>
            <a:ext cx="2322612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A physicist with a real question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91852" y="4401778"/>
            <a:ext cx="2766239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The free-form search page of the dashboards.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91852" y="4534793"/>
            <a:ext cx="2421946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One box searches every source at once.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28720" y="4884652"/>
            <a:ext cx="1324130" cy="30403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40" b="1" i="0" u="none" spc="-8">
                <a:solidFill>
                  <a:srgbClr val="6B6B66"/>
                </a:solidFill>
                <a:latin typeface="Helvetica Neue"/>
              </a:rPr>
              <a:t>The shifter view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28720" y="5220405"/>
            <a:ext cx="860250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 i="0" u="none" spc="23">
                <a:solidFill>
                  <a:srgbClr val="6B6B66"/>
                </a:solidFill>
                <a:latin typeface="ui-monospace"/>
              </a:rPr>
              <a:t>COMING SOON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91852" y="4910179"/>
            <a:ext cx="2340775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6B6B66"/>
                </a:solidFill>
                <a:latin typeface="Helvetica Neue"/>
              </a:rPr>
              <a:t>What is the experiment saying?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57083" y="4910179"/>
            <a:ext cx="2887593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6B6B66"/>
                </a:solidFill>
                <a:latin typeface="Helvetica Neue"/>
              </a:rPr>
              <a:t>Shifters, who already know InfoLogger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91852" y="5209356"/>
            <a:ext cx="2538799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It should feel close to the InfoLogger view.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91852" y="5342364"/>
            <a:ext cx="2656136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Familiarity is the point: nothing new to learn.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91664" y="5930979"/>
            <a:ext cx="9406979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0" i="0" u="none">
                <a:solidFill>
                  <a:srgbClr val="6B6B66"/>
                </a:solidFill>
                <a:latin typeface="Helvetica Neue"/>
              </a:rPr>
              <a:t>The shifter view will be served through the same door. The dashboards carry two clocks: ingest time for the health panels, the archive’s own event time for the logs.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9600" y="6445067"/>
            <a:ext cx="2119926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u="none" spc="70">
                <a:solidFill>
                  <a:srgbClr val="6B6B66"/>
                </a:solidFill>
                <a:latin typeface="ui-monospace"/>
              </a:rPr>
              <a:t>ALICE COLLABORATION BOARD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42702" y="6445067"/>
            <a:ext cx="593592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u="none" spc="70">
                <a:solidFill>
                  <a:srgbClr val="6B6B66"/>
                </a:solidFill>
                <a:latin typeface="ui-monospace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3532" y="527661"/>
            <a:ext cx="4493972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u="none" spc="70">
                <a:solidFill>
                  <a:srgbClr val="6B6B66"/>
                </a:solidFill>
                <a:latin typeface="ui-monospace"/>
              </a:rPr>
              <a:t>MODERN LOGGING PLATFORM WITH MACHINE LEARNING FOR HPC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66584"/>
            <a:ext cx="3080314" cy="8976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110" b="1" i="0" u="none" spc="-100">
                <a:solidFill>
                  <a:srgbClr val="101010"/>
                </a:solidFill>
                <a:latin typeface="Helvetica Neue"/>
              </a:rPr>
              <a:t>Log anomaly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61634"/>
            <a:ext cx="2245781" cy="8976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110" b="1" i="0" u="none" spc="-100">
                <a:solidFill>
                  <a:srgbClr val="101010"/>
                </a:solidFill>
                <a:latin typeface="Helvetica Neue"/>
              </a:rPr>
              <a:t>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016633"/>
            <a:ext cx="3553033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 u="none">
                <a:solidFill>
                  <a:srgbClr val="6B6B66"/>
                </a:solidFill>
                <a:latin typeface="Helvetica Neue"/>
              </a:rPr>
              <a:t>Everything we run today watches numbers about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197132"/>
            <a:ext cx="3429750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 u="none">
                <a:solidFill>
                  <a:srgbClr val="6B6B66"/>
                </a:solidFill>
                <a:latin typeface="Helvetica Neue"/>
              </a:rPr>
              <a:t>the logs. It counts lines, errors and lag. Nothing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377630"/>
            <a:ext cx="3549979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 u="none">
                <a:solidFill>
                  <a:srgbClr val="6B6B66"/>
                </a:solidFill>
                <a:latin typeface="Helvetica Neue"/>
              </a:rPr>
              <a:t>yet reads the words in the line. That work is next,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558129"/>
            <a:ext cx="2211866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 u="none">
                <a:solidFill>
                  <a:srgbClr val="6B6B66"/>
                </a:solidFill>
                <a:latin typeface="Helvetica Neue"/>
              </a:rPr>
              <a:t>and the method is not chosen.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130891"/>
            <a:ext cx="1969478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30" b="0" i="0" u="none" spc="50">
                <a:solidFill>
                  <a:srgbClr val="E1251B"/>
                </a:solidFill>
                <a:latin typeface="ui-monospace"/>
              </a:rPr>
              <a:t>NOTHING HERE IS BUILT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309128"/>
            <a:ext cx="2157055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30" b="0" i="0" u="none" spc="50">
                <a:solidFill>
                  <a:srgbClr val="E1251B"/>
                </a:solidFill>
                <a:latin typeface="ui-monospace"/>
              </a:rPr>
              <a:t>THREE WAYS, NONE CHOSEN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487364"/>
            <a:ext cx="2344632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30" b="0" i="0" u="none" spc="50">
                <a:solidFill>
                  <a:srgbClr val="E1251B"/>
                </a:solidFill>
                <a:latin typeface="ui-monospace"/>
              </a:rPr>
              <a:t>PUSH UP, SCORE IN 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1706" y="856411"/>
            <a:ext cx="217289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>
                <a:solidFill>
                  <a:srgbClr val="6B6B66"/>
                </a:solidFill>
                <a:latin typeface="ui-monospace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19725" y="856411"/>
            <a:ext cx="2316504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 spc="119">
                <a:solidFill>
                  <a:srgbClr val="101010"/>
                </a:solidFill>
                <a:latin typeface="ui-monospace"/>
              </a:rPr>
              <a:t>WHAT IS WATCHED 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9515" y="867460"/>
            <a:ext cx="2022842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630" b="0" i="0" u="none">
                <a:solidFill>
                  <a:srgbClr val="3A3A36"/>
                </a:solidFill>
                <a:latin typeface="Helvetica Neue"/>
              </a:rPr>
              <a:t>One of the project’s next focuses.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8952" y="1214345"/>
            <a:ext cx="1801832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Numbers about the logs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32112" y="1399505"/>
            <a:ext cx="3395514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6B6B66"/>
                </a:solidFill>
                <a:latin typeface="ui-monospace"/>
              </a:rPr>
              <a:t>counts, error rates, lag — built and running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0777" y="1214345"/>
            <a:ext cx="1286839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50" b="1" i="0" u="none" spc="-8">
                <a:solidFill>
                  <a:srgbClr val="E1251B"/>
                </a:solidFill>
                <a:latin typeface="Helvetica Neue"/>
              </a:rPr>
              <a:t>The log text itself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3592" y="1399505"/>
            <a:ext cx="3241209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E1251B"/>
                </a:solidFill>
                <a:latin typeface="ui-monospace"/>
              </a:rPr>
              <a:t>the words in the line — nothing reads them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1706" y="1796989"/>
            <a:ext cx="217289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>
                <a:solidFill>
                  <a:srgbClr val="6B6B66"/>
                </a:solidFill>
                <a:latin typeface="ui-monospace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19725" y="1796989"/>
            <a:ext cx="2978408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 spc="119">
                <a:solidFill>
                  <a:srgbClr val="101010"/>
                </a:solidFill>
                <a:latin typeface="ui-monospace"/>
              </a:rPr>
              <a:t>THREE WAYS TO READ THE 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82202" y="1808038"/>
            <a:ext cx="2100155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630" b="0" i="0" u="none">
                <a:solidFill>
                  <a:srgbClr val="3A3A36"/>
                </a:solidFill>
                <a:latin typeface="Helvetica Neue"/>
              </a:rPr>
              <a:t>None is chosen. All three are open.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44298" y="2148522"/>
            <a:ext cx="1765024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0" i="0" u="none" spc="119">
                <a:solidFill>
                  <a:srgbClr val="101010"/>
                </a:solidFill>
                <a:latin typeface="ui-monospace"/>
              </a:rPr>
              <a:t>TEMPLATING ALONE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2059" y="2327489"/>
            <a:ext cx="2009501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 u="none">
                <a:solidFill>
                  <a:srgbClr val="6B6B66"/>
                </a:solidFill>
                <a:latin typeface="Helvetica Neue"/>
              </a:rPr>
              <a:t>Collapse a line to its skeleton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39315" y="2606107"/>
            <a:ext cx="1774990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6B6B66"/>
                </a:solidFill>
                <a:latin typeface="ui-monospace"/>
              </a:rPr>
              <a:t>Processing timeslice:41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00739" y="2739115"/>
            <a:ext cx="1852142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E1251B"/>
                </a:solidFill>
                <a:latin typeface="ui-monospace"/>
              </a:rPr>
              <a:t>Processing timeslice:&lt;N&gt;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00739" y="2929131"/>
            <a:ext cx="1852142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6B6B66"/>
                </a:solidFill>
                <a:latin typeface="ui-monospace"/>
              </a:rPr>
              <a:t>Millions of lines become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2162" y="3062146"/>
            <a:ext cx="1929295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6B6B66"/>
                </a:solidFill>
                <a:latin typeface="ui-monospace"/>
              </a:rPr>
              <a:t>a few thousand templates.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16467" y="3195154"/>
            <a:ext cx="1620685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6B6B66"/>
                </a:solidFill>
                <a:latin typeface="ui-monospace"/>
              </a:rPr>
              <a:t>A template never seen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00739" y="3328169"/>
            <a:ext cx="1852142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6B6B66"/>
                </a:solidFill>
                <a:latin typeface="ui-monospace"/>
              </a:rPr>
              <a:t>before is a free signal.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67713" y="3606787"/>
            <a:ext cx="791778" cy="18821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40" b="1" i="0" u="none" spc="86">
                <a:solidFill>
                  <a:srgbClr val="E1251B"/>
                </a:solidFill>
                <a:latin typeface="ui-monospace"/>
              </a:rPr>
              <a:t>TRADE-OFF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67713" y="3717697"/>
            <a:ext cx="2132303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E1251B"/>
                </a:solidFill>
                <a:latin typeface="Helvetica Neue"/>
              </a:rPr>
              <a:t>The signal runs out. Software prints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67713" y="3841209"/>
            <a:ext cx="2285000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E1251B"/>
                </a:solidFill>
                <a:latin typeface="Helvetica Neue"/>
              </a:rPr>
              <a:t>only the messages in its source. Once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67713" y="3964722"/>
            <a:ext cx="2237262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E1251B"/>
                </a:solidFill>
                <a:latin typeface="Helvetica Neue"/>
              </a:rPr>
              <a:t>every template is seen, it stops firing.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5472" y="2148522"/>
            <a:ext cx="1103120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0" i="0" u="none" spc="119">
                <a:solidFill>
                  <a:srgbClr val="101010"/>
                </a:solidFill>
                <a:latin typeface="ui-monospace"/>
              </a:rPr>
              <a:t>k-NN ALONE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4233" y="2327489"/>
            <a:ext cx="2485597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 u="none">
                <a:solidFill>
                  <a:srgbClr val="6B6B66"/>
                </a:solidFill>
                <a:latin typeface="Helvetica Neue"/>
              </a:rPr>
              <a:t>Nearest-neighbour distance on lines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45232" y="2606107"/>
            <a:ext cx="2083600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6B6B66"/>
                </a:solidFill>
                <a:latin typeface="ui-monospace"/>
              </a:rPr>
              <a:t>k-NN: k nearest neighbours.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8114" y="2739115"/>
            <a:ext cx="1697837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E1251B"/>
                </a:solidFill>
                <a:latin typeface="ui-monospace"/>
              </a:rPr>
              <a:t>Distance is the score.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68080" y="2929131"/>
            <a:ext cx="2237905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6B6B66"/>
                </a:solidFill>
                <a:latin typeface="ui-monospace"/>
              </a:rPr>
              <a:t>Turn each line into a vector.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45232" y="3062146"/>
            <a:ext cx="2083600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6B6B66"/>
                </a:solidFill>
                <a:latin typeface="ui-monospace"/>
              </a:rPr>
              <a:t>Score a new line by how far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45232" y="3195154"/>
            <a:ext cx="2083600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6B6B66"/>
                </a:solidFill>
                <a:latin typeface="ui-monospace"/>
              </a:rPr>
              <a:t>it is from the nearest line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85380" y="3328169"/>
            <a:ext cx="1003304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6B6B66"/>
                </a:solidFill>
                <a:latin typeface="ui-monospace"/>
              </a:rPr>
              <a:t>already seen.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27935" y="3606787"/>
            <a:ext cx="791778" cy="18821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40" b="1" i="0" u="none" spc="86">
                <a:solidFill>
                  <a:srgbClr val="E1251B"/>
                </a:solidFill>
                <a:latin typeface="ui-monospace"/>
              </a:rPr>
              <a:t>TRADE-OFF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7935" y="3717697"/>
            <a:ext cx="1972854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E1251B"/>
                </a:solidFill>
                <a:latin typeface="Helvetica Neue"/>
              </a:rPr>
              <a:t>Rejected on cost. Every line runs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27935" y="3841209"/>
            <a:ext cx="2225046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E1251B"/>
                </a:solidFill>
                <a:latin typeface="Helvetica Neue"/>
              </a:rPr>
              <a:t>through a model at ingest. Millions of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7935" y="3964722"/>
            <a:ext cx="2334667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E1251B"/>
                </a:solidFill>
                <a:latin typeface="Helvetica Neue"/>
              </a:rPr>
              <a:t>vectors sit in memory already rationed.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44135" y="2148522"/>
            <a:ext cx="2206240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0" i="0" u="none" spc="119">
                <a:solidFill>
                  <a:srgbClr val="101010"/>
                </a:solidFill>
                <a:latin typeface="ui-monospace"/>
              </a:rPr>
              <a:t>TEMPLATES, THEN k-NN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31826" y="2327489"/>
            <a:ext cx="1430857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 u="none">
                <a:solidFill>
                  <a:srgbClr val="6B6B66"/>
                </a:solidFill>
                <a:latin typeface="Helvetica Neue"/>
              </a:rPr>
              <a:t>The two ideas, fused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82608" y="2606107"/>
            <a:ext cx="1929295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6B6B66"/>
                </a:solidFill>
                <a:latin typeface="ui-monospace"/>
              </a:rPr>
              <a:t>Templates, then distance.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59760" y="2739115"/>
            <a:ext cx="1774990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E1251B"/>
                </a:solidFill>
                <a:latin typeface="ui-monospace"/>
              </a:rPr>
              <a:t>A few thousand vectors.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66879" y="2929131"/>
            <a:ext cx="2160752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6B6B66"/>
                </a:solidFill>
                <a:latin typeface="ui-monospace"/>
              </a:rPr>
              <a:t>Extract the skeletons first.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44031" y="3062146"/>
            <a:ext cx="2006447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6B6B66"/>
                </a:solidFill>
                <a:latin typeface="ui-monospace"/>
              </a:rPr>
              <a:t>Then run the distance test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36913" y="3195154"/>
            <a:ext cx="1620685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6B6B66"/>
                </a:solidFill>
                <a:latin typeface="ui-monospace"/>
              </a:rPr>
              <a:t>on the templates, and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91298" y="3328169"/>
            <a:ext cx="1311914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6B6B66"/>
                </a:solidFill>
                <a:latin typeface="ui-monospace"/>
              </a:rPr>
              <a:t>not on the lines.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88157" y="3606787"/>
            <a:ext cx="791778" cy="18821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40" b="1" i="0" u="none" spc="86">
                <a:solidFill>
                  <a:srgbClr val="E1251B"/>
                </a:solidFill>
                <a:latin typeface="ui-monospace"/>
              </a:rPr>
              <a:t>TRADE-OFF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88157" y="3717697"/>
            <a:ext cx="2067526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E1251B"/>
                </a:solidFill>
                <a:latin typeface="Helvetica Neue"/>
              </a:rPr>
              <a:t>It fixes the cost. It inherits some of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8157" y="3841209"/>
            <a:ext cx="2060454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E1251B"/>
                </a:solidFill>
                <a:latin typeface="Helvetica Neue"/>
              </a:rPr>
              <a:t>the saturation. Our own document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88157" y="3964722"/>
            <a:ext cx="1708767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E1251B"/>
                </a:solidFill>
                <a:latin typeface="Helvetica Neue"/>
              </a:rPr>
              <a:t>names this one as still open.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91706" y="4381204"/>
            <a:ext cx="217289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>
                <a:solidFill>
                  <a:srgbClr val="E1251B"/>
                </a:solidFill>
                <a:latin typeface="ui-monospace"/>
              </a:rPr>
              <a:t>03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19725" y="4381204"/>
            <a:ext cx="2316504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 spc="119">
                <a:solidFill>
                  <a:srgbClr val="E1251B"/>
                </a:solidFill>
                <a:latin typeface="ui-monospace"/>
              </a:rPr>
              <a:t>THE PROPOSED PIPELINE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02481" y="4371481"/>
            <a:ext cx="1391638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1" i="0" u="none" spc="158">
                <a:solidFill>
                  <a:srgbClr val="FCFCFA"/>
                </a:solidFill>
                <a:latin typeface="ui-monospace"/>
              </a:rPr>
              <a:t>COMING SOON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924717" y="4685230"/>
            <a:ext cx="1434073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 spc="119">
                <a:solidFill>
                  <a:srgbClr val="101010"/>
                </a:solidFill>
                <a:latin typeface="ui-monospace"/>
              </a:rPr>
              <a:t>ON THE WORKER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39045" y="4685230"/>
            <a:ext cx="2095816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 spc="119">
                <a:solidFill>
                  <a:srgbClr val="101010"/>
                </a:solidFill>
                <a:latin typeface="ui-monospace"/>
              </a:rPr>
              <a:t>IN THE STORAGE TIER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980307" y="5043165"/>
            <a:ext cx="1522958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Extract the template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31444" y="5228325"/>
            <a:ext cx="1620685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6B6B66"/>
                </a:solidFill>
                <a:latin typeface="ui-monospace"/>
              </a:rPr>
              <a:t>no model, string work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008676" y="5361340"/>
            <a:ext cx="1466219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6B6B66"/>
                </a:solidFill>
                <a:latin typeface="ui-monospace"/>
              </a:rPr>
              <a:t>cheap on the worker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34853" y="5043165"/>
            <a:ext cx="1566196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Count each template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791880" y="5228325"/>
            <a:ext cx="1852142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6B6B66"/>
                </a:solidFill>
                <a:latin typeface="ui-monospace"/>
              </a:rPr>
              <a:t>one counter per template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39146" y="5361340"/>
            <a:ext cx="1157609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6B6B66"/>
                </a:solidFill>
                <a:latin typeface="ui-monospace"/>
              </a:rPr>
              <a:t>one small table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526953" y="5038308"/>
            <a:ext cx="320159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E1251B"/>
                </a:solidFill>
                <a:latin typeface="ui-monospace"/>
              </a:rPr>
              <a:t>push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32293" y="5043165"/>
            <a:ext cx="1847642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The template vocabulary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52890" y="5228325"/>
            <a:ext cx="2006447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6B6B66"/>
                </a:solidFill>
                <a:latin typeface="ui-monospace"/>
              </a:rPr>
              <a:t>every template seen so far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91466" y="5361340"/>
            <a:ext cx="1929295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6B6B66"/>
                </a:solidFill>
                <a:latin typeface="ui-monospace"/>
              </a:rPr>
              <a:t>held once, not per worker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189938" y="5043165"/>
            <a:ext cx="884682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The scoring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590479" y="5228325"/>
            <a:ext cx="2083600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6B6B66"/>
                </a:solidFill>
                <a:latin typeface="ui-monospace"/>
              </a:rPr>
              <a:t>one of the three ways above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706208" y="5361340"/>
            <a:ext cx="1852142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6B6B66"/>
                </a:solidFill>
                <a:latin typeface="ui-monospace"/>
              </a:rPr>
              <a:t>on the storage tier only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633580" y="5670222"/>
            <a:ext cx="2192578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50" b="0" i="0" u="none" spc="-4">
                <a:solidFill>
                  <a:srgbClr val="E1251B"/>
                </a:solidFill>
                <a:latin typeface="Helvetica Neue"/>
              </a:rPr>
              <a:t>Some work here, but not much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839045" y="5570354"/>
            <a:ext cx="2860911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E1251B"/>
                </a:solidFill>
                <a:latin typeface="Helvetica Neue"/>
              </a:rPr>
              <a:t>The worker pushes its template counts upward,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839045" y="5703369"/>
            <a:ext cx="2556802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E1251B"/>
                </a:solidFill>
                <a:latin typeface="Helvetica Neue"/>
              </a:rPr>
              <a:t>and any template it has never seen before.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39045" y="5836377"/>
            <a:ext cx="2756112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E1251B"/>
                </a:solidFill>
                <a:latin typeface="Helvetica Neue"/>
              </a:rPr>
              <a:t>Nothing polls the worker. No model runs on it.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09600" y="6441615"/>
            <a:ext cx="2119926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u="none" spc="70">
                <a:solidFill>
                  <a:srgbClr val="6B6B66"/>
                </a:solidFill>
                <a:latin typeface="ui-monospace"/>
              </a:rPr>
              <a:t>ALICE COLLABORATION BOARD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142702" y="6441615"/>
            <a:ext cx="593592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u="none" spc="70">
                <a:solidFill>
                  <a:srgbClr val="6B6B66"/>
                </a:solidFill>
                <a:latin typeface="ui-monospace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3532" y="527661"/>
            <a:ext cx="4493972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u="none" spc="70">
                <a:solidFill>
                  <a:srgbClr val="6B6B66"/>
                </a:solidFill>
                <a:latin typeface="ui-monospace"/>
              </a:rPr>
              <a:t>MODERN LOGGING PLATFORM WITH MACHINE LEARNING FOR HPC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06970"/>
            <a:ext cx="417266" cy="18821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 spc="92">
                <a:solidFill>
                  <a:srgbClr val="6B6B66"/>
                </a:solidFill>
                <a:latin typeface="ui-monospace"/>
              </a:rPr>
              <a:t>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4184" y="862774"/>
            <a:ext cx="10259514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69" b="0" i="0" u="none">
                <a:solidFill>
                  <a:srgbClr val="3A3A36"/>
                </a:solidFill>
                <a:latin typeface="Helvetica Neue"/>
              </a:rPr>
              <a:t>This lane watches the numbers about the logs: counts, error rates and lag. It does not read the log text. The log text has its own lane, on the page before.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324618"/>
            <a:ext cx="2091636" cy="8976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110" b="1" i="0" u="none" spc="-100">
                <a:solidFill>
                  <a:srgbClr val="101010"/>
                </a:solidFill>
                <a:latin typeface="Helvetica Neue"/>
              </a:rPr>
              <a:t>Anomaly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719667"/>
            <a:ext cx="2245781" cy="8976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110" b="1" i="0" u="none" spc="-100">
                <a:solidFill>
                  <a:srgbClr val="101010"/>
                </a:solidFill>
                <a:latin typeface="Helvetica Neue"/>
              </a:rPr>
              <a:t>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114717"/>
            <a:ext cx="2534138" cy="8976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110" b="1" i="0" u="none" spc="-100">
                <a:solidFill>
                  <a:srgbClr val="101010"/>
                </a:solidFill>
                <a:latin typeface="Helvetica Neue"/>
              </a:rPr>
              <a:t>on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869716"/>
            <a:ext cx="3360634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 u="none">
                <a:solidFill>
                  <a:srgbClr val="6B6B66"/>
                </a:solidFill>
                <a:latin typeface="Helvetica Neue"/>
              </a:rPr>
              <a:t>Every worker pushes its own numbers up, 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050215"/>
            <a:ext cx="3454182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 u="none">
                <a:solidFill>
                  <a:srgbClr val="6B6B66"/>
                </a:solidFill>
                <a:latin typeface="Helvetica Neue"/>
              </a:rPr>
              <a:t>nothing goes out to ask. Three lanes read those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230713"/>
            <a:ext cx="3508831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 u="none">
                <a:solidFill>
                  <a:srgbClr val="6B6B66"/>
                </a:solidFill>
                <a:latin typeface="Helvetica Neue"/>
              </a:rPr>
              <a:t>numbers. Many hits about one machine fold into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411212"/>
            <a:ext cx="676852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 u="none">
                <a:solidFill>
                  <a:srgbClr val="6B6B66"/>
                </a:solidFill>
                <a:latin typeface="Helvetica Neue"/>
              </a:rPr>
              <a:t>one alert.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3983974"/>
            <a:ext cx="2719786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30" b="0" i="0" u="none" spc="50">
                <a:solidFill>
                  <a:srgbClr val="E1251B"/>
                </a:solidFill>
                <a:latin typeface="ui-monospace"/>
              </a:rPr>
              <a:t>WORKERS PUSH, NOTHING SCRAPES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162211"/>
            <a:ext cx="2907203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30" b="0" i="0" u="none" spc="50">
                <a:solidFill>
                  <a:srgbClr val="E1251B"/>
                </a:solidFill>
                <a:latin typeface="ui-monospace"/>
              </a:rPr>
              <a:t>THREE LANES, ONE SET OF NUMBERS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340447"/>
            <a:ext cx="2063186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30" b="0" i="0" u="none" spc="50">
                <a:solidFill>
                  <a:srgbClr val="E1251B"/>
                </a:solidFill>
                <a:latin typeface="ui-monospace"/>
              </a:rPr>
              <a:t>ONE MACHINE, ONE ALERT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427" y="4943856"/>
            <a:ext cx="2334667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30" b="1" i="0" u="none">
                <a:solidFill>
                  <a:srgbClr val="101010"/>
                </a:solidFill>
                <a:latin typeface="Helvetica Neue"/>
              </a:rPr>
              <a:t>Feature engineering was the 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427" y="5131975"/>
            <a:ext cx="3059257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30" b="0" i="0" u="none">
                <a:solidFill>
                  <a:srgbClr val="6B6B66"/>
                </a:solidFill>
                <a:latin typeface="Helvetica Neue"/>
              </a:rPr>
              <a:t>The detectors, the forest and the alerting all 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427" y="5289256"/>
            <a:ext cx="2870394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30" b="0" i="0" u="none">
                <a:solidFill>
                  <a:srgbClr val="6B6B66"/>
                </a:solidFill>
                <a:latin typeface="Helvetica Neue"/>
              </a:rPr>
              <a:t>with OpenSearch. Choosing what to measure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427" y="5446538"/>
            <a:ext cx="483007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30" b="0" i="0" u="none">
                <a:solidFill>
                  <a:srgbClr val="6B6B66"/>
                </a:solidFill>
                <a:latin typeface="Helvetica Neue"/>
              </a:rPr>
              <a:t>did not.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1723" y="1333449"/>
            <a:ext cx="217289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>
                <a:solidFill>
                  <a:srgbClr val="6B6B66"/>
                </a:solidFill>
                <a:latin typeface="ui-monospace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19741" y="1333449"/>
            <a:ext cx="2978247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 spc="119">
                <a:solidFill>
                  <a:srgbClr val="101010"/>
                </a:solidFill>
                <a:latin typeface="ui-monospace"/>
              </a:rPr>
              <a:t>WHERE THE NUMBERS COME FROM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26023" y="1344498"/>
            <a:ext cx="2556320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630" b="0" i="0" u="none">
                <a:solidFill>
                  <a:srgbClr val="3A3A36"/>
                </a:solidFill>
                <a:latin typeface="Helvetica Neue"/>
              </a:rPr>
              <a:t>Nothing reaches into a worker to scrape 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8483" y="1789362"/>
            <a:ext cx="1105692" cy="30403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40" b="1" i="0" u="none" spc="-8">
                <a:solidFill>
                  <a:srgbClr val="E1251B"/>
                </a:solidFill>
                <a:latin typeface="Helvetica Neue"/>
              </a:rPr>
              <a:t>Every worker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1893" y="2015954"/>
            <a:ext cx="1678871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 u="none">
                <a:solidFill>
                  <a:srgbClr val="E1251B"/>
                </a:solidFill>
                <a:latin typeface="Helvetica Neue"/>
              </a:rPr>
              <a:t>pushes its own counters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57991" y="2199561"/>
            <a:ext cx="2546675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E1251B"/>
                </a:solidFill>
                <a:latin typeface="ui-monospace"/>
              </a:rPr>
              <a:t>records in, out, retried, dropped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0357" y="1848036"/>
            <a:ext cx="320159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E1251B"/>
                </a:solidFill>
                <a:latin typeface="ui-monospace"/>
              </a:rPr>
              <a:t>push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5070" y="1789362"/>
            <a:ext cx="1103924" cy="30403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40" b="1" i="0" u="none" spc="-8">
                <a:solidFill>
                  <a:srgbClr val="101010"/>
                </a:solidFill>
                <a:latin typeface="Helvetica Neue"/>
              </a:rPr>
              <a:t>The numbers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3004" y="2015954"/>
            <a:ext cx="1448056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 u="none">
                <a:solidFill>
                  <a:srgbClr val="6B6B66"/>
                </a:solidFill>
                <a:latin typeface="Helvetica Neue"/>
              </a:rPr>
              <a:t>one row per machine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15346" y="2199561"/>
            <a:ext cx="1543371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6B6B66"/>
                </a:solidFill>
                <a:latin typeface="ui-monospace"/>
              </a:rPr>
              <a:t>every thirty seconds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05046" y="1848036"/>
            <a:ext cx="320159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6B6B66"/>
                </a:solidFill>
                <a:latin typeface="ui-monospace"/>
              </a:rPr>
              <a:t>poll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09716" y="1789362"/>
            <a:ext cx="866037" cy="30403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40" b="1" i="0" u="none" spc="-8">
                <a:solidFill>
                  <a:srgbClr val="101010"/>
                </a:solidFill>
                <a:latin typeface="Helvetica Neue"/>
              </a:rPr>
              <a:t>One poller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31119" y="2015954"/>
            <a:ext cx="2423231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 u="none">
                <a:solidFill>
                  <a:srgbClr val="6B6B66"/>
                </a:solidFill>
                <a:latin typeface="Helvetica Neue"/>
              </a:rPr>
              <a:t>asks the cluster and the 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93816" y="2199561"/>
            <a:ext cx="1697837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6B6B66"/>
                </a:solidFill>
                <a:latin typeface="ui-monospace"/>
              </a:rPr>
              <a:t>and who has gone quiet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1723" y="2730060"/>
            <a:ext cx="217289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>
                <a:solidFill>
                  <a:srgbClr val="6B6B66"/>
                </a:solidFill>
                <a:latin typeface="ui-monospace"/>
              </a:rP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19741" y="2730060"/>
            <a:ext cx="3309199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 spc="119">
                <a:solidFill>
                  <a:srgbClr val="101010"/>
                </a:solidFill>
                <a:latin typeface="ui-monospace"/>
              </a:rPr>
              <a:t>THREE LANES READ THOSE NUMBERS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57046" y="2741109"/>
            <a:ext cx="3225296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630" b="0" i="0" u="none">
                <a:solidFill>
                  <a:srgbClr val="3A3A36"/>
                </a:solidFill>
                <a:latin typeface="Helvetica Neue"/>
              </a:rPr>
              <a:t>28 saved rules and 17 detectors, all inside the cluster.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56525" y="3110085"/>
            <a:ext cx="1654600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0" i="0" u="none" spc="119">
                <a:solidFill>
                  <a:srgbClr val="101010"/>
                </a:solidFill>
                <a:latin typeface="ui-monospace"/>
              </a:rPr>
              <a:t>THRESHOLD RULES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20359" y="3308058"/>
            <a:ext cx="1812923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 u="none">
                <a:solidFill>
                  <a:srgbClr val="6B6B66"/>
                </a:solidFill>
                <a:latin typeface="Helvetica Neue"/>
              </a:rPr>
              <a:t>The cliffs we already know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46445" y="3596179"/>
            <a:ext cx="2160752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6B6B66"/>
                </a:solidFill>
                <a:latin typeface="ui-monospace"/>
              </a:rPr>
              <a:t>a disk over 92 percent full,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69292" y="3729186"/>
            <a:ext cx="2315057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6B6B66"/>
                </a:solidFill>
                <a:latin typeface="ui-monospace"/>
              </a:rPr>
              <a:t>a collector silent two minutes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25169" y="4052210"/>
            <a:ext cx="1003304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6B6B66"/>
                </a:solidFill>
                <a:latin typeface="ui-monospace"/>
              </a:rPr>
              <a:t>A plain rule.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3711" y="4185225"/>
            <a:ext cx="1466219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6B6B66"/>
                </a:solidFill>
                <a:latin typeface="ui-monospace"/>
              </a:rPr>
              <a:t>Nothing is trained.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06392" y="3110085"/>
            <a:ext cx="1875289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0" i="0" u="none" spc="119">
                <a:solidFill>
                  <a:srgbClr val="101010"/>
                </a:solidFill>
                <a:latin typeface="ui-monospace"/>
              </a:rPr>
              <a:t>RANDOM CUT FOREST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50938" y="3308058"/>
            <a:ext cx="2072188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 u="none">
                <a:solidFill>
                  <a:srgbClr val="6B6B66"/>
                </a:solidFill>
                <a:latin typeface="Helvetica Neue"/>
              </a:rPr>
              <a:t>How surprising is this minute?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1986" y="3748184"/>
            <a:ext cx="540228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E1251B"/>
                </a:solidFill>
                <a:latin typeface="ui-monospace"/>
              </a:rPr>
              <a:t>one cut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06656" y="4052210"/>
            <a:ext cx="2160752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6B6B66"/>
                </a:solidFill>
                <a:latin typeface="ui-monospace"/>
              </a:rPr>
              <a:t>Random Cut Forest, one model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83809" y="4185225"/>
            <a:ext cx="2006447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6B6B66"/>
                </a:solidFill>
                <a:latin typeface="ui-monospace"/>
              </a:rPr>
              <a:t>per machine. No threshold.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97556" y="3110085"/>
            <a:ext cx="1213385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60" b="0" i="0" u="none" spc="119">
                <a:solidFill>
                  <a:srgbClr val="101010"/>
                </a:solidFill>
                <a:latin typeface="ui-monospace"/>
              </a:rPr>
              <a:t>TREND RULES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43388" y="3308058"/>
            <a:ext cx="1407712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 u="none">
                <a:solidFill>
                  <a:srgbClr val="6B6B66"/>
                </a:solidFill>
                <a:latin typeface="Helvetica Neue"/>
              </a:rPr>
              <a:t>Slow drift, over days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36901" y="3596179"/>
            <a:ext cx="1620685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6B6B66"/>
                </a:solidFill>
                <a:latin typeface="ui-monospace"/>
              </a:rPr>
              <a:t>what the forest would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82595" y="3729186"/>
            <a:ext cx="1929296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6B6B66"/>
                </a:solidFill>
                <a:latin typeface="ui-monospace"/>
              </a:rPr>
              <a:t>otherwise learn as normal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66868" y="4052210"/>
            <a:ext cx="2160752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6B6B66"/>
                </a:solidFill>
                <a:latin typeface="ui-monospace"/>
              </a:rPr>
              <a:t>A frozen seven-day baseline.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89714" y="4185225"/>
            <a:ext cx="2315058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6B6B66"/>
                </a:solidFill>
                <a:latin typeface="ui-monospace"/>
              </a:rPr>
              <a:t>Nine rules, every ten minutes.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91723" y="4554202"/>
            <a:ext cx="217289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>
                <a:solidFill>
                  <a:srgbClr val="6B6B66"/>
                </a:solidFill>
                <a:latin typeface="ui-monospace"/>
              </a:rPr>
              <a:t>03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19741" y="4554202"/>
            <a:ext cx="2426768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 spc="119">
                <a:solidFill>
                  <a:srgbClr val="101010"/>
                </a:solidFill>
                <a:latin typeface="ui-monospace"/>
              </a:rPr>
              <a:t>FROM HITS TO ONE ALERT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89004" y="5026146"/>
            <a:ext cx="724591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Many hits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43884" y="5230304"/>
            <a:ext cx="1214830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30" b="0" i="0" u="none">
                <a:solidFill>
                  <a:srgbClr val="6B6B66"/>
                </a:solidFill>
                <a:latin typeface="Helvetica Neue"/>
              </a:rPr>
              <a:t>the same rule, again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87928" y="4962616"/>
            <a:ext cx="1057149" cy="30403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40" b="1" i="0" u="none" spc="-8">
                <a:solidFill>
                  <a:srgbClr val="101010"/>
                </a:solidFill>
                <a:latin typeface="Helvetica Neue"/>
              </a:rPr>
              <a:t>One episode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42670" y="5170203"/>
            <a:ext cx="1747664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 u="none">
                <a:solidFill>
                  <a:srgbClr val="6B6B66"/>
                </a:solidFill>
                <a:latin typeface="Helvetica Neue"/>
              </a:rPr>
              <a:t>one machine, one trouble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95898" y="5334811"/>
            <a:ext cx="3241208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6B6B66"/>
                </a:solidFill>
                <a:latin typeface="ui-monospace"/>
              </a:rPr>
              <a:t>opened at the first hit, closed when quiet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76476" y="4962616"/>
            <a:ext cx="1141536" cy="30403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40" b="1" i="0" u="none" spc="-8">
                <a:solidFill>
                  <a:srgbClr val="101010"/>
                </a:solidFill>
                <a:latin typeface="Helvetica Neue"/>
              </a:rPr>
              <a:t>Alertmanager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23295" y="5170203"/>
            <a:ext cx="2057882" cy="24612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 u="none">
                <a:solidFill>
                  <a:srgbClr val="6B6B66"/>
                </a:solidFill>
                <a:latin typeface="Helvetica Neue"/>
              </a:rPr>
              <a:t>decides when a person is told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26165" y="5334811"/>
            <a:ext cx="1852142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u="none">
                <a:solidFill>
                  <a:srgbClr val="6B6B66"/>
                </a:solidFill>
                <a:latin typeface="ui-monospace"/>
              </a:rPr>
              <a:t>and how often it repeats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931117" y="5862210"/>
            <a:ext cx="4756613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50" b="0" i="0" u="none" spc="-4">
                <a:solidFill>
                  <a:srgbClr val="E1251B"/>
                </a:solidFill>
                <a:latin typeface="Helvetica Neue"/>
              </a:rPr>
              <a:t>One broken machine is one alert, however many times the rule fires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9600" y="6424589"/>
            <a:ext cx="2119926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u="none" spc="70">
                <a:solidFill>
                  <a:srgbClr val="6B6B66"/>
                </a:solidFill>
                <a:latin typeface="ui-monospace"/>
              </a:rPr>
              <a:t>ALICE COLLABORATION BOARD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142702" y="6424589"/>
            <a:ext cx="593592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u="none" spc="70">
                <a:solidFill>
                  <a:srgbClr val="6B6B66"/>
                </a:solidFill>
                <a:latin typeface="ui-monospace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3532" y="527661"/>
            <a:ext cx="4493972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u="none" spc="70">
                <a:solidFill>
                  <a:srgbClr val="6B6B66"/>
                </a:solidFill>
                <a:latin typeface="ui-monospace"/>
              </a:rPr>
              <a:t>MODERN LOGGING PLATFORM WITH MACHINE LEARNING FOR HPC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39927"/>
            <a:ext cx="1881557" cy="8976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110" b="1" i="0" u="none" spc="-100">
                <a:solidFill>
                  <a:srgbClr val="101010"/>
                </a:solidFill>
                <a:latin typeface="Helvetica Neue"/>
              </a:rPr>
              <a:t>Coming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334976"/>
            <a:ext cx="1186059" cy="8976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110" b="1" i="0" u="none" spc="-100">
                <a:solidFill>
                  <a:srgbClr val="101010"/>
                </a:solidFill>
                <a:latin typeface="Helvetica Neue"/>
              </a:rPr>
              <a:t>soon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089975"/>
            <a:ext cx="3400014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 u="none">
                <a:solidFill>
                  <a:srgbClr val="6B6B66"/>
                </a:solidFill>
                <a:latin typeface="Helvetica Neue"/>
              </a:rPr>
              <a:t>Five things are missing. Each one has a reason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270474"/>
            <a:ext cx="3342311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 u="none">
                <a:solidFill>
                  <a:srgbClr val="6B6B66"/>
                </a:solidFill>
                <a:latin typeface="Helvetica Neue"/>
              </a:rPr>
              <a:t>for waiting and a price we can name. They 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450973"/>
            <a:ext cx="2858179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 u="none">
                <a:solidFill>
                  <a:srgbClr val="6B6B66"/>
                </a:solidFill>
                <a:latin typeface="Helvetica Neue"/>
              </a:rPr>
              <a:t>listed in the order we would build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023735"/>
            <a:ext cx="2813494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30" b="0" i="0" u="none" spc="50">
                <a:solidFill>
                  <a:srgbClr val="E1251B"/>
                </a:solidFill>
                <a:latin typeface="ui-monospace"/>
              </a:rPr>
              <a:t>KAFKA WAITS FOR A THIRD READER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201972"/>
            <a:ext cx="2907203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30" b="0" i="0" u="none" spc="50">
                <a:solidFill>
                  <a:srgbClr val="E1251B"/>
                </a:solidFill>
                <a:latin typeface="ui-monospace"/>
              </a:rPr>
              <a:t>SYSTEM LOGS NEED A REAL MACHINE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380208"/>
            <a:ext cx="3282357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30" b="0" i="0" u="none" spc="50">
                <a:solidFill>
                  <a:srgbClr val="E1251B"/>
                </a:solidFill>
                <a:latin typeface="ui-monospace"/>
              </a:rPr>
              <a:t>THE SHIFTER’S VIEW NEEDS EPN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1695" y="948758"/>
            <a:ext cx="1434072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 spc="119">
                <a:solidFill>
                  <a:srgbClr val="101010"/>
                </a:solidFill>
                <a:latin typeface="ui-monospace"/>
              </a:rPr>
              <a:t>NOT BUILT YET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6551" y="959807"/>
            <a:ext cx="4985820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630" b="0" i="0" u="none">
                <a:solidFill>
                  <a:srgbClr val="3A3A36"/>
                </a:solidFill>
                <a:latin typeface="Helvetica Neue"/>
              </a:rPr>
              <a:t>In the order we would build them. Each line names what holds it, and what it costs.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9731" y="1208379"/>
            <a:ext cx="323255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 i="0" u="none" spc="23">
                <a:solidFill>
                  <a:srgbClr val="6B6B66"/>
                </a:solidFill>
                <a:latin typeface="ui-monospace"/>
              </a:rPr>
              <a:t>ITEM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5870" y="1208379"/>
            <a:ext cx="1251316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 i="0" u="none" spc="23">
                <a:solidFill>
                  <a:srgbClr val="6B6B66"/>
                </a:solidFill>
                <a:latin typeface="ui-monospace"/>
              </a:rPr>
              <a:t>WHAT IT WOULD 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84136" y="1208379"/>
            <a:ext cx="2424357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0" b="0" i="0" u="none" spc="23">
                <a:solidFill>
                  <a:srgbClr val="6B6B66"/>
                </a:solidFill>
                <a:latin typeface="ui-monospace"/>
              </a:rPr>
              <a:t>WHY IT WAITS, AND WHAT IT COSTS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05705" y="1566313"/>
            <a:ext cx="217289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>
                <a:solidFill>
                  <a:srgbClr val="E1251B"/>
                </a:solidFill>
                <a:latin typeface="ui-monospace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9731" y="2190271"/>
            <a:ext cx="944636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for durability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4584" y="1551835"/>
            <a:ext cx="493776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720" b="1" i="0" u="none" spc="144">
                <a:solidFill>
                  <a:srgbClr val="E1251B"/>
                </a:solidFill>
                <a:latin typeface="ui-monospace"/>
              </a:rPr>
              <a:t>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5870" y="1544215"/>
            <a:ext cx="3364813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A durable queue between collector and store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00877" y="1805382"/>
            <a:ext cx="2733930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E1251B"/>
                </a:solidFill>
                <a:latin typeface="Helvetica Neue"/>
              </a:rPr>
              <a:t>Three brokers, on the three storage machines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00877" y="1976393"/>
            <a:ext cx="2912990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E1251B"/>
                </a:solidFill>
                <a:latin typeface="Helvetica Neue"/>
              </a:rPr>
              <a:t>KRaft: Kafka keeps its own cluster state, with 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00877" y="2147411"/>
            <a:ext cx="2324380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E1251B"/>
                </a:solidFill>
                <a:latin typeface="Helvetica Neue"/>
              </a:rPr>
              <a:t>separate coordination service beside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0877" y="2318422"/>
            <a:ext cx="2640865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E1251B"/>
                </a:solidFill>
                <a:latin typeface="Helvetica Neue"/>
              </a:rPr>
              <a:t>It decouples a slow reader from a fast writer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00877" y="2489441"/>
            <a:ext cx="3381852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E1251B"/>
                </a:solidFill>
                <a:latin typeface="Helvetica Neue"/>
              </a:rPr>
              <a:t>Fluent Bit writes fast, OpenSearch reads at its own pace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00877" y="2660452"/>
            <a:ext cx="2885665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E1251B"/>
                </a:solidFill>
                <a:latin typeface="Helvetica Neue"/>
              </a:rPr>
              <a:t>A slow or dead store then stops costing records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79144" y="1805382"/>
            <a:ext cx="2838249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E1251B"/>
                </a:solidFill>
                <a:latin typeface="Helvetica Neue"/>
              </a:rPr>
              <a:t>Nothing needs it yet: two readers today, served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79144" y="1976393"/>
            <a:ext cx="1458987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E1251B"/>
                </a:solidFill>
                <a:latin typeface="Helvetica Neue"/>
              </a:rPr>
              <a:t>by two collector outputs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79144" y="2147411"/>
            <a:ext cx="1603648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E1251B"/>
                </a:solidFill>
                <a:latin typeface="Helvetica Neue"/>
              </a:rPr>
              <a:t>A third reader is the trigger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79144" y="2318422"/>
            <a:ext cx="2898524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E1251B"/>
                </a:solidFill>
                <a:latin typeface="Helvetica Neue"/>
              </a:rPr>
              <a:t>Costs three brokers and a second system to run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79144" y="2489441"/>
            <a:ext cx="2474507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E1251B"/>
                </a:solidFill>
                <a:latin typeface="Helvetica Neue"/>
              </a:rPr>
              <a:t>Memory these five machines do not have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05705" y="3029435"/>
            <a:ext cx="217289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>
                <a:solidFill>
                  <a:srgbClr val="6B6B66"/>
                </a:solidFill>
                <a:latin typeface="ui-monospace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9731" y="3007337"/>
            <a:ext cx="663833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More log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9731" y="3159350"/>
            <a:ext cx="407622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types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00877" y="3040484"/>
            <a:ext cx="2880842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Today: DDS, stdout, InfoLogger, collector health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00877" y="3211503"/>
            <a:ext cx="3040933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Missing: the machine’s system journal, and the ten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00877" y="3382514"/>
            <a:ext cx="2579144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per-device process logs that slide 3 names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00877" y="3553532"/>
            <a:ext cx="2813817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Then parse numbers out of the message body: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00877" y="3724543"/>
            <a:ext cx="2733610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timeframe processing time, frame size, tracks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79144" y="3040484"/>
            <a:ext cx="2603737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The archive we replay holds neither source,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79144" y="3211503"/>
            <a:ext cx="1975587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so this one needs a real machine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79144" y="3382514"/>
            <a:ext cx="2773632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The parsers need real message shapes to test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79144" y="3553532"/>
            <a:ext cx="2681532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Costs one input and one parser per machine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05705" y="4017520"/>
            <a:ext cx="217289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>
                <a:solidFill>
                  <a:srgbClr val="6B6B66"/>
                </a:solidFill>
                <a:latin typeface="ui-monospace"/>
              </a:rPr>
              <a:t>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09731" y="3995422"/>
            <a:ext cx="1402890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Anomaly detection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09731" y="4147435"/>
            <a:ext cx="1074188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on the log text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00877" y="4028569"/>
            <a:ext cx="3200061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Today we watch numbers about the logs, not the text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00877" y="4199587"/>
            <a:ext cx="2928259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Slide 13 gives that gap a full page, with the three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00877" y="4370598"/>
            <a:ext cx="1955173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routes we are choosing between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79144" y="4028569"/>
            <a:ext cx="2599076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The choice between the routes is not made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79144" y="4199587"/>
            <a:ext cx="1202294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Nothing here is built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05705" y="4663575"/>
            <a:ext cx="217289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>
                <a:solidFill>
                  <a:srgbClr val="6B6B66"/>
                </a:solidFill>
                <a:latin typeface="ui-monospace"/>
              </a:rPr>
              <a:t>04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09731" y="4641477"/>
            <a:ext cx="914096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The shifter’s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09731" y="4793490"/>
            <a:ext cx="702409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own view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00877" y="4674624"/>
            <a:ext cx="2878271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The cockpit says whether the pipeline is healthy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00877" y="4845643"/>
            <a:ext cx="2930348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A shifter asks what the experiment is saying now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00877" y="5016654"/>
            <a:ext cx="2598754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A second view, close to the InfoLogger one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79144" y="4674624"/>
            <a:ext cx="2833586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It needs access to the EPN machines: we must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79144" y="4845643"/>
            <a:ext cx="1803280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read the running interface first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79144" y="5016654"/>
            <a:ext cx="2666263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No data work; the fields are already mapped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905705" y="5309631"/>
            <a:ext cx="217289" cy="2316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60" b="0" i="0" u="none">
                <a:solidFill>
                  <a:srgbClr val="6B6B66"/>
                </a:solidFill>
                <a:latin typeface="ui-monospace"/>
              </a:rPr>
              <a:t>05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09731" y="5287533"/>
            <a:ext cx="1093476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Authentication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09731" y="5439546"/>
            <a:ext cx="1282660" cy="2606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50" b="1" i="0" u="none" spc="-8">
                <a:solidFill>
                  <a:srgbClr val="101010"/>
                </a:solidFill>
                <a:latin typeface="Helvetica Neue"/>
              </a:rPr>
              <a:t>inside the cluster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00877" y="5320680"/>
            <a:ext cx="2184862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One password guards the web page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00877" y="5491698"/>
            <a:ext cx="2130052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Behind it, no port asks who you are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00877" y="5662717"/>
            <a:ext cx="2167021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A firewall rule is the whole boundary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79144" y="5320680"/>
            <a:ext cx="2805941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Fine on five machines we own, not on the farm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79144" y="5491698"/>
            <a:ext cx="2935653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Costs a certificate on every machine, an account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79144" y="5662717"/>
            <a:ext cx="2733449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30" b="0" i="0" u="none">
                <a:solidFill>
                  <a:srgbClr val="3A3A36"/>
                </a:solidFill>
                <a:latin typeface="Helvetica Neue"/>
              </a:rPr>
              <a:t>for every job, and authentication on every call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9600" y="6360414"/>
            <a:ext cx="2119926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u="none" spc="70">
                <a:solidFill>
                  <a:srgbClr val="6B6B66"/>
                </a:solidFill>
                <a:latin typeface="ui-monospace"/>
              </a:rPr>
              <a:t>ALICE COLLABORATION BOARD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142702" y="6360414"/>
            <a:ext cx="593592" cy="2026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u="none" spc="70">
                <a:solidFill>
                  <a:srgbClr val="6B6B66"/>
                </a:solidFill>
                <a:latin typeface="ui-monospace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19200" y="1266777"/>
            <a:ext cx="2645366" cy="105689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729" b="0" i="0" u="none" spc="-142">
                <a:solidFill>
                  <a:srgbClr val="101010"/>
                </a:solidFill>
                <a:latin typeface="Helvetica Neue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200" y="1705189"/>
            <a:ext cx="4839873" cy="10713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729" b="1" i="0" u="none" spc="-142">
                <a:solidFill>
                  <a:srgbClr val="101010"/>
                </a:solidFill>
                <a:latin typeface="Helvetica Neue"/>
              </a:rPr>
              <a:t>for your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200" y="2782014"/>
            <a:ext cx="4995142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u="none" spc="78">
                <a:solidFill>
                  <a:srgbClr val="6B6B66"/>
                </a:solidFill>
                <a:latin typeface="ui-monospace"/>
              </a:rPr>
              <a:t>MODERN LOGGING PLATFORM WITH MACHINE LEARNING FOR HPC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6280785"/>
            <a:ext cx="4052757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u="none" spc="78">
                <a:solidFill>
                  <a:srgbClr val="101010"/>
                </a:solidFill>
                <a:latin typeface="ui-monospace"/>
              </a:rPr>
              <a:t>MARKO SLADOJEVIC · CERN SUMMER STUDENT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44658" y="6280785"/>
            <a:ext cx="3204401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u="none" spc="78">
                <a:solidFill>
                  <a:srgbClr val="3A3A36"/>
                </a:solidFill>
                <a:latin typeface="ui-monospace"/>
              </a:rPr>
              <a:t>PHOTO — CERN, SUMMER STUDENTS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9808" y="6280785"/>
            <a:ext cx="659815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u="none" spc="78">
                <a:solidFill>
                  <a:srgbClr val="101010"/>
                </a:solidFill>
                <a:latin typeface="ui-monospace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